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1" r:id="rId12"/>
    <p:sldId id="266" r:id="rId13"/>
    <p:sldId id="267" r:id="rId14"/>
    <p:sldId id="268" r:id="rId15"/>
    <p:sldId id="290" r:id="rId16"/>
    <p:sldId id="291" r:id="rId17"/>
    <p:sldId id="289" r:id="rId18"/>
    <p:sldId id="282" r:id="rId19"/>
    <p:sldId id="269" r:id="rId20"/>
    <p:sldId id="270" r:id="rId21"/>
    <p:sldId id="271" r:id="rId22"/>
    <p:sldId id="283" r:id="rId23"/>
    <p:sldId id="272" r:id="rId24"/>
    <p:sldId id="286" r:id="rId25"/>
    <p:sldId id="287" r:id="rId26"/>
    <p:sldId id="288" r:id="rId27"/>
    <p:sldId id="285" r:id="rId28"/>
    <p:sldId id="292" r:id="rId29"/>
    <p:sldId id="293" r:id="rId30"/>
    <p:sldId id="294" r:id="rId31"/>
    <p:sldId id="295" r:id="rId32"/>
    <p:sldId id="296" r:id="rId33"/>
    <p:sldId id="297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288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260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Cumprimentar a banca. Apresentar título, autor e orientador. Trabalho sobre transformar uma plataforma de telemetria agrícola de reativa em proativa.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roteiro: introdução, fundamentação, o sistema inicial, planejamento, implementação, comportamento resultante, ganhos, conclusão e referências.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seção de introdução: o problema e os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Coletar e exibir dados não basta. A Kraken já coletava, armazenava e classificava, mas só agia sob consulta. Isso depende da suspeita do operador e o sobrecarrega.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geral: tornar a plataforma proativa. Específicos: caracterizar o estado inicial, definir a arquitetura, implementar agentes e superfície, avaliar. Metodologia spec-driven.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fundamentação teórica: agência, computação proativa, eventos, LLM, apoio à decisão.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Wooldridge e Jennings (1995): autonomia, reatividade, proatividade e habilidade social. O contraste reatividade × proatividade é a chave do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pilares: computação proativa (usuário acima do laço), arquiteturas orientadas a eventos, LLM disciplinado e apoio à decisão.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seção sobre a plataforma Kraken e seu estado reativo inicial.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Kraken: monitoramento agrícola por telemetria, três processos sobre núcleo .NET. CollectApi recebe, DataWorker consolida, ManagerApp apresenta. Postgres + Redis + LLM externo.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1418B-00A3-D8AB-D159-01A080BE6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3AD58-5BC5-7699-0FD6-B67732512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15EBF-489C-90A0-ED50-F03216F28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Kraken: monitoramento agrícola por telemetria, três processos sobre núcleo .NET. CollectApi recebe, DataWorker consolida, ManagerApp apresenta. Postgres + Redis + LLM externo.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33098-0A71-1B87-A1C0-7A2F4C94F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747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lógica de classificação existia, mas ficava inerte até a consulta. Quadro 1: dependência da iniciativa, conhecimento subutilizado, ausência de antecipação, acoplamento à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seção de planejamento e definição arquitetural.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Quadro 2: separar avaliar de redigir; fonte única de avaliação; topologia fan-out/fan-in; decomposição por concern agronômico. Cada uma com a alternativa preterida.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F9F6C-6DED-761F-4D87-FB5D56044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8FEAEF-2773-773B-C67A-8342C1D83D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72F3F-7D4F-6D4D-15CE-5E582D6FA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Quadro 2: separar avaliar de redigir; fonte única de avaliação; topologia fan-out/fan-in; decomposição por concern agronômico. Cada uma com a alternativa preterida.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68EAD-3D3F-19A2-D8E6-252783FEBB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003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5B4F2-8B60-1C01-DEBE-09A62C08B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6609F-C3AB-C771-2331-267134A37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4C8EBB-8DEF-485A-ADC3-130A915D3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Quadro 2: separar avaliar de redigir; fonte única de avaliação; topologia fan-out/fan-in; decomposição por concern agronômico. Cada uma com a alternativa preterida.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A1363-69A7-8CDD-EE00-AC489C495D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911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183E-2564-255F-AC64-7ACEEBA47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CDC94-1490-9544-6DD7-4012FBE35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A4AE3-EABD-59E3-915D-240D43060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Quadro 2: separar avaliar de redigir; fonte única de avaliação; topologia fan-out/fan-in; decomposição por concern agronômico. Cada uma com a alternativa preterida.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65997-5675-5B80-DAA9-CC916F3CBF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6823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60C55-9161-36EC-94F3-5A82DC17D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F3A1A-01CE-4736-C705-BD2CEA43C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811D3-23AD-4207-71FF-2C078BF94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Quadro 2: separar avaliar de redigir; fonte única de avaliação; topologia fan-out/fan-in; decomposição por concern agronômico. Cada uma com a alternativa preterida.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8282E-1D86-3E60-7003-D10AF522D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285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seção de implementação: capacidade compartilhada, barramento, agentes, consolidador e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Capacidade compartilhada de avaliação: fonte única de verdade, refatoração neutra. Barramento RabbitMQ: evento enxuto publicado por plantio, sob sinalizador de configuração.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Quadro 3: cinco agentes — Hídrico, Térmico, Atmosfera, Luz e Integridade. Cada um avalia sua janela e emite um achado determinístico com assinatura para controle de repetição.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E9CF4-5681-CCB2-E67B-B7F18AE10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9E5B0C-8357-A764-E8CF-7F2D53A6B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A8D923-AC36-8D50-D52F-1803C1D0A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Consolidador agrupa achados por plantio, aplica dedup e carência, aciona o LLM uma vez por plantio com degradação graciosa. Ciclo de vida aberto→reconhecida→expirada. Superfície: indicador, painel, assistente.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ABE8C-BE86-8100-1138-A7C05F6C7E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264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Consolidador agrupa achados por plantio, aplica dedup e carência, aciona o LLM uma vez por plantio com degradação graciosa. Ciclo de vida aberto→reconhecida→expirada. Superfície: indicador, painel, assistente.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1480B-AF60-4356-5A04-26C15DC6F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4B6C1E-3DB4-6610-CBFE-B904D8C11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F07C36-7A49-54DE-CD9D-035CF4F67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Consolidador agrupa achados por plantio, aplica dedup e carência, aciona o LLM uma vez por plantio com degradação graciosa. Ciclo de vida aberto→reconhecida→expirada. Superfície: indicador, painel, assistente.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B7BFC-521B-1AAF-3AEB-5DEF1E8EE8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631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6558D-E6A3-5C4A-F45E-2414F2EBD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ABD00E-60C7-EFB1-A327-25C445DFB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813C29-49EE-7A98-E602-3F03EFBAA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Consolidador agrupa achados por plantio, aplica dedup e carência, aciona o LLM uma vez por plantio com degradação graciosa. Ciclo de vida aberto→reconhecida→expirada. Superfície: indicador, painel, assistente.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E2F97-0197-7140-D76C-940E4D8FA2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135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E9923-11F0-2618-E3AC-47D4D3978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97FBA-0940-97FA-2E73-F15303F6E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095B80-7263-DCC3-052A-D95ED4DAC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Consolidador agrupa achados por plantio, aplica dedup e carência, aciona o LLM uma vez por plantio com degradação graciosa. Ciclo de vida aberto→reconhecida→expirada. Superfície: indicador, painel, assistente.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A64D8-7ECD-F63F-B7A1-FB81BD5B5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656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93AC0-4F23-D60E-E9CD-B01D32589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0C1A60-8849-1DB8-FB83-3723AA64B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2563D6-4097-132B-433D-509EE9486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Consolidador agrupa achados por plantio, aplica dedup e carência, aciona o LLM uma vez por plantio com degradação graciosa. Ciclo de vida aberto→reconhecida→expirada. Superfície: indicador, painel, assistente.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DF0EE-952B-ACAF-8EC2-D62D694D29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747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4ABA7-72D6-8EA1-B9A6-67A7DB411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C27F7F-8038-A259-18F6-1E14E1048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533EE5-FD62-BB63-39E6-C59FB44F6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Consolidador agrupa achados por plantio, aplica dedup e carência, aciona o LLM uma vez por plantio com degradação graciosa. Ciclo de vida aberto→reconhecida→expirada. Superfície: indicador, painel, assistente.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D04C5-CD4B-3D9A-D020-ED5DC04320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5164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40A04-2898-C527-C233-414ADBF72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3472EB-E93C-9A5F-C21B-D4A09B375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F01F4B-629D-9A84-A1B4-FF9333E29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Consolidador agrupa achados por plantio, aplica dedup e carência, aciona o LLM uma vez por plantio com degradação graciosa. Ciclo de vida aberto→reconhecida→expirada. Superfície: indicador, painel, assistente.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FAFC4-A385-DC7E-EA97-FC01355A73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9888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AE547-C473-978D-7B24-730F7CA63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EE7173-A683-2162-C392-D7005BB01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FD7FC7-7291-6869-7B80-08CE53C10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Consolidador agrupa achados por plantio, aplica dedup e carência, aciona o LLM uma vez por plantio com degradação graciosa. Ciclo de vida aberto→reconhecida→expirada. Superfície: indicador, painel, assistente.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C7F03-F50E-5F8A-4B7C-91C5E677D2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209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B00D7-5FB0-A554-40FD-A17403CDB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71DBB-810A-A752-9F41-C2EEC7160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2F917-F2C2-C9F0-1B15-FF540928E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Consolidador agrupa achados por plantio, aplica dedup e carência, aciona o LLM uma vez por plantio com degradação graciosa. Ciclo de vida aberto→reconhecida→expirada. Superfície: indicador, painel, assistente.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9A1BD-F39C-00BE-E750-0D3F9FA6DF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5512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05DAD-C98E-0E84-33F4-A93551711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9928AD-4CDF-F359-8F80-DC44A4F51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334A21-C20E-AD14-12EB-E6AE55C4B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Consolidador agrupa achados por plantio, aplica dedup e carência, aciona o LLM uma vez por plantio com degradação graciosa. Ciclo de vida aberto→reconhecida→expirada. Superfície: indicador, painel, assistente.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D8962-759B-C57D-0038-7937836D90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263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36D50-3E51-EA29-8B2E-C4A9935A9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2EA97-A615-AFE4-007C-FE1288FDE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C7E30F-B248-9C02-4339-46D5095D6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Consolidador agrupa achados por plantio, aplica dedup e carência, aciona o LLM uma vez por plantio com degradação graciosa. Ciclo de vida aberto→reconhecida→expirada. Superfície: indicador, painel, assistente.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ECCBD-8B62-A9C6-B5E7-CF0048F1E8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2417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seção sobre o comportamento resultante.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Contraste entre os dois regimes. O sistema passou a exercer autonomia, continuidade e antecipação — o usuário deslocou-se de dentro do laço para acima do laço.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seção de ganhos e benefícios.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dimensões de benefícios: para o usuário/domínio, técnicos/arquiteturais e metodológicos.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conclusão.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Objetivos integralmente atendidos. A natureza do sistema mudou. A arquitetura é desacoplada, testável e extensível. A transição </a:t>
            </a:r>
            <a:r>
              <a:rPr lang="en-US" dirty="0" err="1"/>
              <a:t>reativo→proativo</a:t>
            </a:r>
            <a:r>
              <a:rPr lang="en-US" dirty="0"/>
              <a:t> mostrou-se viável e benéfica.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Principais referências, em formato ABNT.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à banca e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900" y="1028700"/>
            <a:ext cx="2362200" cy="1346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70798" y="2687694"/>
            <a:ext cx="13146405" cy="2581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4000"/>
              </a:lnSpc>
              <a:buNone/>
            </a:pPr>
            <a:r>
              <a:rPr lang="en-US" sz="3150" b="1" kern="0" spc="3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MONITORAÇÃO REATIVA À PROATIVA: CONCEPÇÃO E IMPLEMENTAÇÃO DE UMA CAMADA DE AGENTES PARA GERAÇÃO AUTÔNOMA DE RECOMENDAÇÕES EM UMA PLATAFORMA DE TELEMETRIA AGRÍCOLA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8724899" y="5464295"/>
            <a:ext cx="838200" cy="19050"/>
          </a:xfrm>
          <a:prstGeom prst="rect">
            <a:avLst/>
          </a:prstGeom>
          <a:solidFill>
            <a:srgbClr val="1B53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370737" y="6467180"/>
            <a:ext cx="55465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kern="0" spc="68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VINICIUS FERNANDES ESCOBEDO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370737" y="6867230"/>
            <a:ext cx="55465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396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370736" y="7580543"/>
            <a:ext cx="554652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s-ES" sz="1950" kern="0" spc="39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Me. José Antonio Gallo Junior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370736" y="7952018"/>
            <a:ext cx="55465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396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ORIENTADOR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4039" y="9351131"/>
            <a:ext cx="3659922" cy="588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396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 BONIT</a:t>
            </a:r>
            <a:r>
              <a:rPr lang="en-US" kern="0" spc="396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</a:p>
          <a:p>
            <a:pPr marL="0" indent="0" algn="ctr">
              <a:buNone/>
            </a:pPr>
            <a:r>
              <a:rPr lang="en-US" sz="1800" kern="0" spc="396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1739265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650" b="1" kern="0" spc="-23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PAUTA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1238250" y="1819275"/>
            <a:ext cx="685800" cy="19050"/>
          </a:xfrm>
          <a:prstGeom prst="rect">
            <a:avLst/>
          </a:prstGeom>
          <a:solidFill>
            <a:srgbClr val="1B53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1238250" y="4243388"/>
            <a:ext cx="6477000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5" name="Text 3"/>
          <p:cNvSpPr/>
          <p:nvPr/>
        </p:nvSpPr>
        <p:spPr>
          <a:xfrm>
            <a:off x="1238250" y="3733770"/>
            <a:ext cx="476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85950" y="3705195"/>
            <a:ext cx="5829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858250" y="4243388"/>
            <a:ext cx="6477000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8" name="Text 6"/>
          <p:cNvSpPr/>
          <p:nvPr/>
        </p:nvSpPr>
        <p:spPr>
          <a:xfrm>
            <a:off x="8858250" y="3734595"/>
            <a:ext cx="476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505950" y="3705195"/>
            <a:ext cx="7258050" cy="36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comportamento resultante: do reativo ao proativo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38250" y="5072063"/>
            <a:ext cx="6477000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1" name="Text 9"/>
          <p:cNvSpPr/>
          <p:nvPr/>
        </p:nvSpPr>
        <p:spPr>
          <a:xfrm>
            <a:off x="1238250" y="4567238"/>
            <a:ext cx="476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85950" y="4538663"/>
            <a:ext cx="5829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Fundamentação teórica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858250" y="5072063"/>
            <a:ext cx="6477000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4" name="Text 12"/>
          <p:cNvSpPr/>
          <p:nvPr/>
        </p:nvSpPr>
        <p:spPr>
          <a:xfrm>
            <a:off x="8858250" y="4567238"/>
            <a:ext cx="476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505950" y="4538663"/>
            <a:ext cx="5829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dos </a:t>
            </a:r>
            <a:r>
              <a:rPr lang="en-US" sz="2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238250" y="5900738"/>
            <a:ext cx="6477000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17" name="Text 15"/>
          <p:cNvSpPr/>
          <p:nvPr/>
        </p:nvSpPr>
        <p:spPr>
          <a:xfrm>
            <a:off x="1238250" y="5395913"/>
            <a:ext cx="476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885950" y="5367338"/>
            <a:ext cx="5829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e seu estado inicial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858250" y="5900738"/>
            <a:ext cx="6477000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20" name="Text 18"/>
          <p:cNvSpPr/>
          <p:nvPr/>
        </p:nvSpPr>
        <p:spPr>
          <a:xfrm>
            <a:off x="8858250" y="5395913"/>
            <a:ext cx="476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505950" y="5367338"/>
            <a:ext cx="5829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238250" y="6729413"/>
            <a:ext cx="6477000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23" name="Text 21"/>
          <p:cNvSpPr/>
          <p:nvPr/>
        </p:nvSpPr>
        <p:spPr>
          <a:xfrm>
            <a:off x="1238250" y="6224588"/>
            <a:ext cx="476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885950" y="6196013"/>
            <a:ext cx="5829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e definição arquitetural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8858250" y="6729413"/>
            <a:ext cx="6477000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26" name="Text 24"/>
          <p:cNvSpPr/>
          <p:nvPr/>
        </p:nvSpPr>
        <p:spPr>
          <a:xfrm>
            <a:off x="8858250" y="6224588"/>
            <a:ext cx="476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505950" y="6196013"/>
            <a:ext cx="5829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238250" y="7558088"/>
            <a:ext cx="6477000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29" name="Text 27"/>
          <p:cNvSpPr/>
          <p:nvPr/>
        </p:nvSpPr>
        <p:spPr>
          <a:xfrm>
            <a:off x="1238250" y="7053263"/>
            <a:ext cx="476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885950" y="7024688"/>
            <a:ext cx="5829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2400" dirty="0"/>
          </a:p>
        </p:txBody>
      </p:sp>
      <p:sp>
        <p:nvSpPr>
          <p:cNvPr id="38" name="Shape 20">
            <a:extLst>
              <a:ext uri="{FF2B5EF4-FFF2-40B4-BE49-F238E27FC236}">
                <a16:creationId xmlns:a16="http://schemas.microsoft.com/office/drawing/2014/main" id="{0E1DF724-2EE3-5B87-B3B4-E6BDF91FB3DC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40" name="Image 0" descr="preencoded.png">
            <a:extLst>
              <a:ext uri="{FF2B5EF4-FFF2-40B4-BE49-F238E27FC236}">
                <a16:creationId xmlns:a16="http://schemas.microsoft.com/office/drawing/2014/main" id="{33C27FAD-120F-B504-901F-8E886E973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32" name="Shape 23">
            <a:extLst>
              <a:ext uri="{FF2B5EF4-FFF2-40B4-BE49-F238E27FC236}">
                <a16:creationId xmlns:a16="http://schemas.microsoft.com/office/drawing/2014/main" id="{F3C86BCB-05A7-C9EF-63AB-A57E2FF1B49B}"/>
              </a:ext>
            </a:extLst>
          </p:cNvPr>
          <p:cNvSpPr/>
          <p:nvPr/>
        </p:nvSpPr>
        <p:spPr>
          <a:xfrm>
            <a:off x="8858250" y="7559489"/>
            <a:ext cx="6477000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 sz="240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D45C95AE-EED8-B7D4-7E66-DAC6A4636797}"/>
              </a:ext>
            </a:extLst>
          </p:cNvPr>
          <p:cNvSpPr/>
          <p:nvPr/>
        </p:nvSpPr>
        <p:spPr>
          <a:xfrm>
            <a:off x="8858250" y="7054664"/>
            <a:ext cx="476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7BEF0661-39BB-504A-DE13-44EE4969C2E2}"/>
              </a:ext>
            </a:extLst>
          </p:cNvPr>
          <p:cNvSpPr/>
          <p:nvPr/>
        </p:nvSpPr>
        <p:spPr>
          <a:xfrm>
            <a:off x="9505950" y="7026089"/>
            <a:ext cx="58293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Agradecimentos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3767138"/>
            <a:ext cx="3244914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2500" b="1" kern="0" spc="-900" dirty="0">
                <a:solidFill>
                  <a:srgbClr val="E6E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4797772" y="4305449"/>
            <a:ext cx="52547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97772" y="4781699"/>
            <a:ext cx="5254794" cy="77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endParaRPr lang="en-US" sz="5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330797" y="857250"/>
            <a:ext cx="21933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8250" y="1314450"/>
            <a:ext cx="173926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2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38250" y="3519040"/>
            <a:ext cx="14716125" cy="62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Coletar e exibir dados </a:t>
            </a:r>
            <a:r>
              <a:rPr lang="en-US" sz="22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basta </a:t>
            </a:r>
            <a:r>
              <a:rPr lang="en-US" sz="2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 valor está em convertê-los em informação acionável no momento certo.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8250" y="4366765"/>
            <a:ext cx="323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752600" y="4290565"/>
            <a:ext cx="13990130" cy="876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3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agricultura moderna gera fluxos contínuos de telemetria: temperatura, umidade, concentração de CO₂ e radiação ultravioleta.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1238250" y="5491013"/>
            <a:ext cx="323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752600" y="5414813"/>
            <a:ext cx="13990130" cy="876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3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plataforma </a:t>
            </a:r>
            <a:r>
              <a:rPr lang="en-US" sz="23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Kraken </a:t>
            </a:r>
            <a:r>
              <a:rPr lang="en-US" sz="23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coletava, armazenava e até classificava as leituras — mas só agia quando o usuário formulava uma consulta.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1238250" y="6615261"/>
            <a:ext cx="323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752600" y="6539061"/>
            <a:ext cx="13990130" cy="876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3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detecção de uma condição crítica dependia da </a:t>
            </a:r>
            <a:r>
              <a:rPr lang="en-US" sz="23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suspeita prévia </a:t>
            </a:r>
            <a:r>
              <a:rPr lang="en-US" sz="23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operador, sobrecarregando quem </a:t>
            </a:r>
            <a:r>
              <a:rPr lang="en-US" sz="23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</a:t>
            </a:r>
            <a:r>
              <a:rPr lang="en-US" sz="23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325" dirty="0"/>
          </a:p>
        </p:txBody>
      </p:sp>
      <p:sp>
        <p:nvSpPr>
          <p:cNvPr id="16" name="Shape 20">
            <a:extLst>
              <a:ext uri="{FF2B5EF4-FFF2-40B4-BE49-F238E27FC236}">
                <a16:creationId xmlns:a16="http://schemas.microsoft.com/office/drawing/2014/main" id="{9790A1BF-A2B9-653A-B0F6-9EF09C90BDC0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4ED4BB35-59AA-1B35-899A-454A5EAD4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330797" y="857250"/>
            <a:ext cx="21933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8250" y="1314450"/>
            <a:ext cx="173926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2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E ABORDAGEM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331805" y="3492922"/>
            <a:ext cx="70356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GERAL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1805" y="3988222"/>
            <a:ext cx="6587919" cy="22474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Projetar e implementar uma </a:t>
            </a:r>
            <a:r>
              <a:rPr lang="en-US" sz="2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de agentes proativos </a:t>
            </a:r>
            <a:r>
              <a:rPr lang="en-US" sz="2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transforme o caráter da plataforma de reativo para proativo, gerando recomendações </a:t>
            </a:r>
            <a:r>
              <a:rPr lang="en-US" sz="24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intervenção do usuário </a:t>
            </a:r>
            <a:r>
              <a:rPr lang="en-US" sz="2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489843" y="3492922"/>
            <a:ext cx="95188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ESPECÍFICOS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89843" y="4519687"/>
            <a:ext cx="8653463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489843" y="4035847"/>
            <a:ext cx="361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85143" y="3988222"/>
            <a:ext cx="880486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Caracterizar o sistema em seu estado reativo inicial e suas limitações.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8489843" y="5611193"/>
            <a:ext cx="8653463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489843" y="4767337"/>
            <a:ext cx="361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985143" y="4719712"/>
            <a:ext cx="840290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uma arquitetura multiagente, orientada a eventos, integrada à estrutura existente.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8489843" y="6702698"/>
            <a:ext cx="8653463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489843" y="5858843"/>
            <a:ext cx="361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85143" y="5811218"/>
            <a:ext cx="840290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os agentes, a consolidação/geração de recomendações e a interface de apresentação.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8489843" y="6950348"/>
            <a:ext cx="361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85143" y="6902723"/>
            <a:ext cx="840290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 qualitativamente o comportamento resultante e os ganhos obtidos.</a:t>
            </a:r>
            <a:endParaRPr lang="en-US" sz="2025" dirty="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569A7C0C-4487-0F11-A37D-1A81D15A3DF8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BE0C4227-C123-4980-F9C5-86AA76E46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3767138"/>
            <a:ext cx="3244914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2500" b="1" kern="0" spc="-900" dirty="0">
                <a:solidFill>
                  <a:srgbClr val="E6E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4797772" y="3939034"/>
            <a:ext cx="71351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97772" y="4415284"/>
            <a:ext cx="6681121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FUNDAMENTAÇÃO TEÓRICA</a:t>
            </a:r>
            <a:endParaRPr lang="en-US" sz="5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330797" y="857250"/>
            <a:ext cx="45117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FUNDAMENTAÇÃO TEÓRICA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8250" y="1314450"/>
            <a:ext cx="173926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2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PROPRIEDADES DA AGÊNCIA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38250" y="2105025"/>
            <a:ext cx="17392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quatro propriedades sistematizadas por Wooldridge e Jennings (1995).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238250" y="4369296"/>
            <a:ext cx="28575" cy="1226641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552575" y="4426446"/>
            <a:ext cx="805719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Autonomia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52575" y="4845546"/>
            <a:ext cx="7544467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 sem intervenção direta, controlando suas próprias ações e estado interno.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410700" y="4369296"/>
            <a:ext cx="28575" cy="1226641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725025" y="4426446"/>
            <a:ext cx="805719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Reatividade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725025" y="4845546"/>
            <a:ext cx="7544467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Percebe o ambiente e responde, em tempo hábil, às mudanças nele ocorridas.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238250" y="5843588"/>
            <a:ext cx="28575" cy="1226641"/>
          </a:xfrm>
          <a:prstGeom prst="rect">
            <a:avLst/>
          </a:prstGeom>
          <a:solidFill>
            <a:srgbClr val="1B53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552575" y="5900738"/>
            <a:ext cx="805719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Proatividade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552575" y="6319838"/>
            <a:ext cx="7544467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se limita a reagir: toma a iniciativa de agir em antecipação a objetivos.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410700" y="5843588"/>
            <a:ext cx="28575" cy="1226641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725025" y="5900738"/>
            <a:ext cx="805719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Habilidade social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725025" y="6319838"/>
            <a:ext cx="7544467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Interage com outros agentes — e com humanos — por meio de comunicação.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38250" y="9210675"/>
            <a:ext cx="92113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1CB23EB7-E6EC-45D7-9348-B66C5A4917BD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68C379B6-AEC3-1C7B-4F41-AC15174AA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79A3C003-BEA1-E9EF-BA15-01D9FA673193}"/>
              </a:ext>
            </a:extLst>
          </p:cNvPr>
          <p:cNvSpPr/>
          <p:nvPr/>
        </p:nvSpPr>
        <p:spPr>
          <a:xfrm>
            <a:off x="1231722" y="9265024"/>
            <a:ext cx="139484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pt-BR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CONTRASTE ENTRE </a:t>
            </a:r>
            <a:r>
              <a:rPr lang="pt-BR" b="1" dirty="0">
                <a:latin typeface="Arial" pitchFamily="34" charset="0"/>
                <a:cs typeface="Arial" pitchFamily="34" charset="-120"/>
              </a:rPr>
              <a:t>REATIVIDADE</a:t>
            </a:r>
            <a:r>
              <a:rPr lang="pt-BR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b="1" dirty="0">
                <a:solidFill>
                  <a:srgbClr val="1B53A6"/>
                </a:solidFill>
                <a:latin typeface="Arial" pitchFamily="34" charset="0"/>
                <a:cs typeface="Arial" pitchFamily="34" charset="-120"/>
              </a:rPr>
              <a:t>PROATIVIDADE</a:t>
            </a:r>
            <a:r>
              <a:rPr lang="pt-BR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A CHAVE CONCEITUAL DESTE TRABALHO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330797" y="857250"/>
            <a:ext cx="45117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FUNDAMENTAÇÃO TEÓRICA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8250" y="1314450"/>
            <a:ext cx="173926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2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DA TRANSIÇÃO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238250" y="4230142"/>
            <a:ext cx="14859000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238250" y="3235821"/>
            <a:ext cx="533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038350" y="3226296"/>
            <a:ext cx="154647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Computação proativa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2038350" y="3616821"/>
            <a:ext cx="1546479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Desloca o usuário de </a:t>
            </a:r>
            <a:r>
              <a:rPr lang="en-US" sz="195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do laço</a:t>
            </a:r>
            <a:r>
              <a:rPr lang="en-US" sz="195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</a:t>
            </a:r>
            <a:r>
              <a:rPr lang="en-US" sz="195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acima do laço </a:t>
            </a:r>
            <a:r>
              <a:rPr lang="en-US" sz="1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 iniciador a supervisor (Tennenhouse, 2000).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38250" y="5529263"/>
            <a:ext cx="14859000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238250" y="4534942"/>
            <a:ext cx="533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038350" y="4525417"/>
            <a:ext cx="154647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Arquiteturas orientadas a eventos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2038350" y="4915942"/>
            <a:ext cx="1546479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Desacoplam produtores e consumidores da informação via publish/subscribe (Hohpe; Woolf, 2003).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38250" y="6828383"/>
            <a:ext cx="14859000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238250" y="5834063"/>
            <a:ext cx="533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038350" y="5824538"/>
            <a:ext cx="154647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linguagem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2038350" y="6215063"/>
            <a:ext cx="1546479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Provêm a comunicação inteligível ao usuário, empregados de forma disciplinada (Lewis et al., 2020; Yao et al., 2023).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38250" y="7133183"/>
            <a:ext cx="533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2038350" y="7123658"/>
            <a:ext cx="1546479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 à decisão e recomendação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2038350" y="7514183"/>
            <a:ext cx="1546479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Auxiliam, sem substituir, o juízo do decisor humano (Rezende, 2003).</a:t>
            </a:r>
            <a:endParaRPr lang="en-US" sz="1950" dirty="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7B9F9DD4-AD25-F224-568E-EBD9E6862A3C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D31C448F-A1D6-A7E8-B811-A2D6A8CB4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3767138"/>
            <a:ext cx="3244914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2500" b="1" kern="0" spc="-900" dirty="0">
                <a:solidFill>
                  <a:srgbClr val="E6E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4797772" y="3939034"/>
            <a:ext cx="67781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97772" y="4415284"/>
            <a:ext cx="6346789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E SEU ESTADO INICIAL</a:t>
            </a:r>
            <a:endParaRPr lang="en-US" sz="5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pt-BR" sz="1800" b="1" noProof="0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pt-BR" sz="1800" noProof="0" dirty="0"/>
          </a:p>
        </p:txBody>
      </p:sp>
      <p:sp>
        <p:nvSpPr>
          <p:cNvPr id="3" name="Shape 1"/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2330797" y="857250"/>
            <a:ext cx="57241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pt-BR" sz="1800" kern="0" spc="360" noProof="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E SEU ESTADO INICIAL</a:t>
            </a:r>
            <a:endParaRPr lang="pt-BR" sz="1800" noProof="0" dirty="0"/>
          </a:p>
        </p:txBody>
      </p:sp>
      <p:sp>
        <p:nvSpPr>
          <p:cNvPr id="22" name="Shape 20"/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A3D398CB-34A6-2CF0-0930-EC7BF943F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7227" y="2352860"/>
            <a:ext cx="4320002" cy="5760000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F7D19555-1E4D-C936-1F34-80775C2137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5768" y="2352861"/>
            <a:ext cx="4320000" cy="5760000"/>
          </a:xfrm>
          <a:prstGeom prst="rect">
            <a:avLst/>
          </a:prstGeom>
        </p:spPr>
      </p:pic>
      <p:sp>
        <p:nvSpPr>
          <p:cNvPr id="35" name="Shape 11">
            <a:extLst>
              <a:ext uri="{FF2B5EF4-FFF2-40B4-BE49-F238E27FC236}">
                <a16:creationId xmlns:a16="http://schemas.microsoft.com/office/drawing/2014/main" id="{DFFA3AE5-07D2-FD86-90F6-D7D5D093B47B}"/>
              </a:ext>
            </a:extLst>
          </p:cNvPr>
          <p:cNvSpPr/>
          <p:nvPr/>
        </p:nvSpPr>
        <p:spPr>
          <a:xfrm>
            <a:off x="1238250" y="3076440"/>
            <a:ext cx="18000" cy="4268920"/>
          </a:xfrm>
          <a:prstGeom prst="rect">
            <a:avLst/>
          </a:prstGeom>
          <a:solidFill>
            <a:srgbClr val="1B53A6"/>
          </a:solidFill>
          <a:ln/>
        </p:spPr>
        <p:txBody>
          <a:bodyPr/>
          <a:lstStyle/>
          <a:p>
            <a:endParaRPr lang="pt-BR"/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CCA42E8B-86AC-A236-5F96-245B846548B9}"/>
              </a:ext>
            </a:extLst>
          </p:cNvPr>
          <p:cNvGrpSpPr/>
          <p:nvPr/>
        </p:nvGrpSpPr>
        <p:grpSpPr>
          <a:xfrm>
            <a:off x="1604195" y="3076440"/>
            <a:ext cx="6184621" cy="361950"/>
            <a:chOff x="1556444" y="3986553"/>
            <a:chExt cx="6184621" cy="361950"/>
          </a:xfrm>
        </p:grpSpPr>
        <p:sp>
          <p:nvSpPr>
            <p:cNvPr id="40" name="Text 3">
              <a:extLst>
                <a:ext uri="{FF2B5EF4-FFF2-40B4-BE49-F238E27FC236}">
                  <a16:creationId xmlns:a16="http://schemas.microsoft.com/office/drawing/2014/main" id="{E8EC1D43-B68B-66BD-534E-B8A351B521D2}"/>
                </a:ext>
              </a:extLst>
            </p:cNvPr>
            <p:cNvSpPr/>
            <p:nvPr/>
          </p:nvSpPr>
          <p:spPr>
            <a:xfrm>
              <a:off x="1556444" y="4034178"/>
              <a:ext cx="476250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1B53A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01</a:t>
              </a:r>
              <a:endParaRPr lang="en-US" sz="1800" dirty="0"/>
            </a:p>
          </p:txBody>
        </p:sp>
        <p:sp>
          <p:nvSpPr>
            <p:cNvPr id="42" name="Text 4">
              <a:extLst>
                <a:ext uri="{FF2B5EF4-FFF2-40B4-BE49-F238E27FC236}">
                  <a16:creationId xmlns:a16="http://schemas.microsoft.com/office/drawing/2014/main" id="{B14BBBCE-8227-6040-37C5-435AEC5CA532}"/>
                </a:ext>
              </a:extLst>
            </p:cNvPr>
            <p:cNvSpPr/>
            <p:nvPr/>
          </p:nvSpPr>
          <p:spPr>
            <a:xfrm>
              <a:off x="2204144" y="3986553"/>
              <a:ext cx="5536921" cy="361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r>
                <a:rPr lang="pt-BR" dirty="0">
                  <a:latin typeface="Arial" panose="020B0604020202020204" pitchFamily="34" charset="0"/>
                  <a:cs typeface="Arial" panose="020B0604020202020204" pitchFamily="34" charset="0"/>
                </a:rPr>
                <a:t>Sensor capacitivo de umidade do solo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2F85912F-B14F-82BA-22AD-1BD5C5371623}"/>
              </a:ext>
            </a:extLst>
          </p:cNvPr>
          <p:cNvGrpSpPr/>
          <p:nvPr/>
        </p:nvGrpSpPr>
        <p:grpSpPr>
          <a:xfrm>
            <a:off x="1604195" y="3859739"/>
            <a:ext cx="6184621" cy="361950"/>
            <a:chOff x="1556444" y="4533539"/>
            <a:chExt cx="6184621" cy="361950"/>
          </a:xfrm>
        </p:grpSpPr>
        <p:sp>
          <p:nvSpPr>
            <p:cNvPr id="44" name="Text 3">
              <a:extLst>
                <a:ext uri="{FF2B5EF4-FFF2-40B4-BE49-F238E27FC236}">
                  <a16:creationId xmlns:a16="http://schemas.microsoft.com/office/drawing/2014/main" id="{4D477A2D-B869-D4BA-96E3-8D4373A64A69}"/>
                </a:ext>
              </a:extLst>
            </p:cNvPr>
            <p:cNvSpPr/>
            <p:nvPr/>
          </p:nvSpPr>
          <p:spPr>
            <a:xfrm>
              <a:off x="1556444" y="4581164"/>
              <a:ext cx="476250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1B53A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02</a:t>
              </a:r>
              <a:endParaRPr lang="en-US" sz="1800" dirty="0"/>
            </a:p>
          </p:txBody>
        </p:sp>
        <p:sp>
          <p:nvSpPr>
            <p:cNvPr id="46" name="Text 4">
              <a:extLst>
                <a:ext uri="{FF2B5EF4-FFF2-40B4-BE49-F238E27FC236}">
                  <a16:creationId xmlns:a16="http://schemas.microsoft.com/office/drawing/2014/main" id="{7F22A519-232A-5AC4-E7F6-032B5B5098B6}"/>
                </a:ext>
              </a:extLst>
            </p:cNvPr>
            <p:cNvSpPr/>
            <p:nvPr/>
          </p:nvSpPr>
          <p:spPr>
            <a:xfrm>
              <a:off x="2204144" y="4533539"/>
              <a:ext cx="5536921" cy="361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r>
                <a:rPr lang="pt-BR" dirty="0">
                  <a:latin typeface="Arial" panose="020B0604020202020204" pitchFamily="34" charset="0"/>
                  <a:cs typeface="Arial" panose="020B0604020202020204" pitchFamily="34" charset="0"/>
                </a:rPr>
                <a:t>Sensor de temperatura do solo (DS18B20)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5A7544D8-E0A9-383D-1744-86B995B9A46B}"/>
              </a:ext>
            </a:extLst>
          </p:cNvPr>
          <p:cNvGrpSpPr/>
          <p:nvPr/>
        </p:nvGrpSpPr>
        <p:grpSpPr>
          <a:xfrm>
            <a:off x="1604195" y="4643038"/>
            <a:ext cx="6190277" cy="361950"/>
            <a:chOff x="1552575" y="5044190"/>
            <a:chExt cx="6190277" cy="361950"/>
          </a:xfrm>
        </p:grpSpPr>
        <p:sp>
          <p:nvSpPr>
            <p:cNvPr id="48" name="Text 3">
              <a:extLst>
                <a:ext uri="{FF2B5EF4-FFF2-40B4-BE49-F238E27FC236}">
                  <a16:creationId xmlns:a16="http://schemas.microsoft.com/office/drawing/2014/main" id="{FDD6A377-36AE-B9B2-A87E-5FAC28F876BD}"/>
                </a:ext>
              </a:extLst>
            </p:cNvPr>
            <p:cNvSpPr/>
            <p:nvPr/>
          </p:nvSpPr>
          <p:spPr>
            <a:xfrm>
              <a:off x="1552575" y="5091815"/>
              <a:ext cx="476250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1B53A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03</a:t>
              </a:r>
              <a:endParaRPr lang="en-US" sz="1800" dirty="0"/>
            </a:p>
          </p:txBody>
        </p:sp>
        <p:sp>
          <p:nvSpPr>
            <p:cNvPr id="50" name="Text 4">
              <a:extLst>
                <a:ext uri="{FF2B5EF4-FFF2-40B4-BE49-F238E27FC236}">
                  <a16:creationId xmlns:a16="http://schemas.microsoft.com/office/drawing/2014/main" id="{35AEFA65-DF6F-1E22-589B-7E52B92FC4FF}"/>
                </a:ext>
              </a:extLst>
            </p:cNvPr>
            <p:cNvSpPr/>
            <p:nvPr/>
          </p:nvSpPr>
          <p:spPr>
            <a:xfrm>
              <a:off x="2200275" y="5044190"/>
              <a:ext cx="5542577" cy="361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r>
                <a:rPr lang="pt-BR" dirty="0">
                  <a:latin typeface="Arial" panose="020B0604020202020204" pitchFamily="34" charset="0"/>
                  <a:cs typeface="Arial" panose="020B0604020202020204" pitchFamily="34" charset="0"/>
                </a:rPr>
                <a:t>Sensor de condutividade elétrica do solo (EC)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F9A1540B-C012-C33B-A9E1-BFB598984471}"/>
              </a:ext>
            </a:extLst>
          </p:cNvPr>
          <p:cNvGrpSpPr/>
          <p:nvPr/>
        </p:nvGrpSpPr>
        <p:grpSpPr>
          <a:xfrm>
            <a:off x="1604195" y="5426337"/>
            <a:ext cx="6275342" cy="361950"/>
            <a:chOff x="1556444" y="4533539"/>
            <a:chExt cx="6275342" cy="361950"/>
          </a:xfrm>
        </p:grpSpPr>
        <p:sp>
          <p:nvSpPr>
            <p:cNvPr id="60" name="Text 3">
              <a:extLst>
                <a:ext uri="{FF2B5EF4-FFF2-40B4-BE49-F238E27FC236}">
                  <a16:creationId xmlns:a16="http://schemas.microsoft.com/office/drawing/2014/main" id="{6F992550-14F5-E227-407F-45CF55AE942C}"/>
                </a:ext>
              </a:extLst>
            </p:cNvPr>
            <p:cNvSpPr/>
            <p:nvPr/>
          </p:nvSpPr>
          <p:spPr>
            <a:xfrm>
              <a:off x="1556444" y="4581164"/>
              <a:ext cx="476250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1B53A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05</a:t>
              </a:r>
              <a:endParaRPr lang="en-US" sz="1800" dirty="0"/>
            </a:p>
          </p:txBody>
        </p:sp>
        <p:sp>
          <p:nvSpPr>
            <p:cNvPr id="61" name="Text 4">
              <a:extLst>
                <a:ext uri="{FF2B5EF4-FFF2-40B4-BE49-F238E27FC236}">
                  <a16:creationId xmlns:a16="http://schemas.microsoft.com/office/drawing/2014/main" id="{A364A7D3-C5B7-9091-0E8E-6BA16D1AF5FE}"/>
                </a:ext>
              </a:extLst>
            </p:cNvPr>
            <p:cNvSpPr/>
            <p:nvPr/>
          </p:nvSpPr>
          <p:spPr>
            <a:xfrm>
              <a:off x="2204144" y="4533539"/>
              <a:ext cx="5627642" cy="361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r>
                <a:rPr lang="pt-BR" dirty="0">
                  <a:latin typeface="Arial" panose="020B0604020202020204" pitchFamily="34" charset="0"/>
                  <a:cs typeface="Arial" panose="020B0604020202020204" pitchFamily="34" charset="0"/>
                </a:rPr>
                <a:t>Sensor de temperatura e umidade do ar (BME280)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11A970B8-3C3E-6641-C27C-9FB316C5DE7D}"/>
              </a:ext>
            </a:extLst>
          </p:cNvPr>
          <p:cNvGrpSpPr/>
          <p:nvPr/>
        </p:nvGrpSpPr>
        <p:grpSpPr>
          <a:xfrm>
            <a:off x="1604195" y="6209636"/>
            <a:ext cx="6272192" cy="361950"/>
            <a:chOff x="1552575" y="5044190"/>
            <a:chExt cx="6272192" cy="361950"/>
          </a:xfrm>
        </p:grpSpPr>
        <p:sp>
          <p:nvSpPr>
            <p:cNvPr id="63" name="Text 3">
              <a:extLst>
                <a:ext uri="{FF2B5EF4-FFF2-40B4-BE49-F238E27FC236}">
                  <a16:creationId xmlns:a16="http://schemas.microsoft.com/office/drawing/2014/main" id="{8F6FA07B-DC7B-DDCC-5BBC-E6A669E0334E}"/>
                </a:ext>
              </a:extLst>
            </p:cNvPr>
            <p:cNvSpPr/>
            <p:nvPr/>
          </p:nvSpPr>
          <p:spPr>
            <a:xfrm>
              <a:off x="1552575" y="5091815"/>
              <a:ext cx="476250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1B53A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06</a:t>
              </a:r>
              <a:endParaRPr lang="en-US" sz="1800" dirty="0"/>
            </a:p>
          </p:txBody>
        </p:sp>
        <p:sp>
          <p:nvSpPr>
            <p:cNvPr id="64" name="Text 4">
              <a:extLst>
                <a:ext uri="{FF2B5EF4-FFF2-40B4-BE49-F238E27FC236}">
                  <a16:creationId xmlns:a16="http://schemas.microsoft.com/office/drawing/2014/main" id="{3513E829-A0B2-5C11-2A51-76A4CB5985D4}"/>
                </a:ext>
              </a:extLst>
            </p:cNvPr>
            <p:cNvSpPr/>
            <p:nvPr/>
          </p:nvSpPr>
          <p:spPr>
            <a:xfrm>
              <a:off x="2200275" y="5044190"/>
              <a:ext cx="5624492" cy="361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r>
                <a:rPr lang="pt-BR" dirty="0">
                  <a:latin typeface="Arial" panose="020B0604020202020204" pitchFamily="34" charset="0"/>
                  <a:cs typeface="Arial" panose="020B0604020202020204" pitchFamily="34" charset="0"/>
                </a:rPr>
                <a:t>Sensor de radiação ultravioleta (ML8511)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7B948C72-8CF3-111F-1A46-897A90589628}"/>
              </a:ext>
            </a:extLst>
          </p:cNvPr>
          <p:cNvGrpSpPr/>
          <p:nvPr/>
        </p:nvGrpSpPr>
        <p:grpSpPr>
          <a:xfrm>
            <a:off x="1604195" y="6992935"/>
            <a:ext cx="6275342" cy="361950"/>
            <a:chOff x="1556444" y="3986553"/>
            <a:chExt cx="6275342" cy="361950"/>
          </a:xfrm>
        </p:grpSpPr>
        <p:sp>
          <p:nvSpPr>
            <p:cNvPr id="66" name="Text 3">
              <a:extLst>
                <a:ext uri="{FF2B5EF4-FFF2-40B4-BE49-F238E27FC236}">
                  <a16:creationId xmlns:a16="http://schemas.microsoft.com/office/drawing/2014/main" id="{02C77BA9-2B15-F6FA-30C4-2F831F5B9C93}"/>
                </a:ext>
              </a:extLst>
            </p:cNvPr>
            <p:cNvSpPr/>
            <p:nvPr/>
          </p:nvSpPr>
          <p:spPr>
            <a:xfrm>
              <a:off x="1556444" y="4034178"/>
              <a:ext cx="476250" cy="3048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1B53A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07</a:t>
              </a:r>
              <a:endParaRPr lang="en-US" sz="1800" dirty="0"/>
            </a:p>
          </p:txBody>
        </p:sp>
        <p:sp>
          <p:nvSpPr>
            <p:cNvPr id="67" name="Text 4">
              <a:extLst>
                <a:ext uri="{FF2B5EF4-FFF2-40B4-BE49-F238E27FC236}">
                  <a16:creationId xmlns:a16="http://schemas.microsoft.com/office/drawing/2014/main" id="{4FB1349B-B8BA-04ED-5998-6E408A4352BF}"/>
                </a:ext>
              </a:extLst>
            </p:cNvPr>
            <p:cNvSpPr/>
            <p:nvPr/>
          </p:nvSpPr>
          <p:spPr>
            <a:xfrm>
              <a:off x="2204144" y="3986553"/>
              <a:ext cx="5627642" cy="3619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r>
                <a:rPr lang="pt-BR" dirty="0">
                  <a:latin typeface="Arial" panose="020B0604020202020204" pitchFamily="34" charset="0"/>
                  <a:cs typeface="Arial" panose="020B0604020202020204" pitchFamily="34" charset="0"/>
                </a:rPr>
                <a:t>Sensor de qualidade do ar (CO₂)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1" name="Text 20">
            <a:extLst>
              <a:ext uri="{FF2B5EF4-FFF2-40B4-BE49-F238E27FC236}">
                <a16:creationId xmlns:a16="http://schemas.microsoft.com/office/drawing/2014/main" id="{9B8A52A2-4775-FF13-08E2-F06E62770C8E}"/>
              </a:ext>
            </a:extLst>
          </p:cNvPr>
          <p:cNvSpPr/>
          <p:nvPr/>
        </p:nvSpPr>
        <p:spPr>
          <a:xfrm>
            <a:off x="1238250" y="9277350"/>
            <a:ext cx="139484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1 — </a:t>
            </a:r>
            <a:r>
              <a:rPr lang="pt-BR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 COM MICROCONTROLADOR E SENSORES QUE É INSTALADO NO CULTIVO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2840E-4ADB-646D-5F1F-66B0DCE81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07716A0-FBC4-553A-6E46-C0DC5DA8A3AF}"/>
              </a:ext>
            </a:extLst>
          </p:cNvPr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pt-BR" sz="1800" b="1" noProof="0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pt-BR" sz="1800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147E06-C1A0-FA30-B831-5A717F475F89}"/>
              </a:ext>
            </a:extLst>
          </p:cNvPr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BEDDB5-2263-56F3-DCB5-01ECB6C0DBC7}"/>
              </a:ext>
            </a:extLst>
          </p:cNvPr>
          <p:cNvSpPr/>
          <p:nvPr/>
        </p:nvSpPr>
        <p:spPr>
          <a:xfrm>
            <a:off x="2330797" y="857250"/>
            <a:ext cx="57241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pt-BR" sz="1800" kern="0" spc="360" noProof="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E SEU ESTADO INICIAL</a:t>
            </a:r>
            <a:endParaRPr lang="pt-BR" sz="1800" noProof="0" dirty="0"/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06A655A1-CD41-29B9-F6DF-769A11A20EAE}"/>
              </a:ext>
            </a:extLst>
          </p:cNvPr>
          <p:cNvGrpSpPr/>
          <p:nvPr/>
        </p:nvGrpSpPr>
        <p:grpSpPr>
          <a:xfrm>
            <a:off x="1238250" y="2181497"/>
            <a:ext cx="4781550" cy="1497211"/>
            <a:chOff x="1524000" y="5009257"/>
            <a:chExt cx="4781550" cy="1497211"/>
          </a:xfrm>
        </p:grpSpPr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C4F32DDF-4C34-8E70-1DF8-DA6489C3DF04}"/>
                </a:ext>
              </a:extLst>
            </p:cNvPr>
            <p:cNvSpPr/>
            <p:nvPr/>
          </p:nvSpPr>
          <p:spPr>
            <a:xfrm>
              <a:off x="1524000" y="5009257"/>
              <a:ext cx="478155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pt-BR" sz="1800" noProof="0" dirty="0" err="1">
                  <a:solidFill>
                    <a:srgbClr val="1B53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CollectApi</a:t>
              </a:r>
              <a:endParaRPr lang="pt-BR" sz="1800" noProof="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FB46D252-792F-AD38-9DC1-7E493B66887B}"/>
                </a:ext>
              </a:extLst>
            </p:cNvPr>
            <p:cNvSpPr/>
            <p:nvPr/>
          </p:nvSpPr>
          <p:spPr>
            <a:xfrm>
              <a:off x="1524000" y="5418832"/>
              <a:ext cx="4781550" cy="3333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pt-BR" sz="1950" b="1" noProof="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API de Coleta</a:t>
              </a:r>
              <a:endParaRPr lang="pt-BR" sz="1950" noProof="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F5D68452-B541-BF08-3860-5B155144D982}"/>
                </a:ext>
              </a:extLst>
            </p:cNvPr>
            <p:cNvSpPr/>
            <p:nvPr/>
          </p:nvSpPr>
          <p:spPr>
            <a:xfrm>
              <a:off x="1524000" y="5828407"/>
              <a:ext cx="4630674" cy="67806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pt-BR" sz="1800" noProof="0" dirty="0">
                  <a:solidFill>
                    <a:srgbClr val="4A4A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Recebe as leituras dos dispositivos (ESP32) e as armazena temporariamente.</a:t>
              </a:r>
              <a:endParaRPr lang="pt-BR" sz="1800" noProof="0" dirty="0"/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FD60D47D-7489-4B64-787B-29BC2C60B6D6}"/>
              </a:ext>
            </a:extLst>
          </p:cNvPr>
          <p:cNvGrpSpPr/>
          <p:nvPr/>
        </p:nvGrpSpPr>
        <p:grpSpPr>
          <a:xfrm>
            <a:off x="1238250" y="4211538"/>
            <a:ext cx="4781550" cy="1497211"/>
            <a:chOff x="6896100" y="5009257"/>
            <a:chExt cx="4781550" cy="1497211"/>
          </a:xfrm>
        </p:grpSpPr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80675013-5D52-4663-A0E1-49AEDC6D8F1A}"/>
                </a:ext>
              </a:extLst>
            </p:cNvPr>
            <p:cNvSpPr/>
            <p:nvPr/>
          </p:nvSpPr>
          <p:spPr>
            <a:xfrm>
              <a:off x="6896100" y="5009257"/>
              <a:ext cx="478155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pt-BR" sz="1800" noProof="0" dirty="0" err="1">
                  <a:solidFill>
                    <a:srgbClr val="1B53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DataWorker</a:t>
              </a:r>
              <a:endParaRPr lang="pt-BR" sz="1800" noProof="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0E3D5876-8CAB-B0B9-6CD3-0CEDF214DE60}"/>
                </a:ext>
              </a:extLst>
            </p:cNvPr>
            <p:cNvSpPr/>
            <p:nvPr/>
          </p:nvSpPr>
          <p:spPr>
            <a:xfrm>
              <a:off x="6896100" y="5418832"/>
              <a:ext cx="4781550" cy="3333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pt-BR" sz="1950" b="1" noProof="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Trabalhador de Dados</a:t>
              </a:r>
              <a:endParaRPr lang="pt-BR" sz="1950" noProof="0" dirty="0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9E1C88CF-14DA-541A-A84E-D98A25685D7D}"/>
                </a:ext>
              </a:extLst>
            </p:cNvPr>
            <p:cNvSpPr/>
            <p:nvPr/>
          </p:nvSpPr>
          <p:spPr>
            <a:xfrm>
              <a:off x="6896100" y="5828407"/>
              <a:ext cx="4630674" cy="67806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pt-BR" sz="1800" noProof="0" dirty="0">
                  <a:solidFill>
                    <a:srgbClr val="4A4A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Consolida periodicamente as leituras brutas em dados confiáveis e persistentes.</a:t>
              </a:r>
              <a:endParaRPr lang="pt-BR" sz="1800" noProof="0" dirty="0"/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4D1DF557-ED89-BAC5-E06A-BE893C6CC7C0}"/>
              </a:ext>
            </a:extLst>
          </p:cNvPr>
          <p:cNvGrpSpPr/>
          <p:nvPr/>
        </p:nvGrpSpPr>
        <p:grpSpPr>
          <a:xfrm>
            <a:off x="1238250" y="6241579"/>
            <a:ext cx="4781550" cy="1497211"/>
            <a:chOff x="12268200" y="5009257"/>
            <a:chExt cx="4781550" cy="1497211"/>
          </a:xfrm>
        </p:grpSpPr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3BA80371-FFDE-A7DF-FF84-DB30719477F5}"/>
                </a:ext>
              </a:extLst>
            </p:cNvPr>
            <p:cNvSpPr/>
            <p:nvPr/>
          </p:nvSpPr>
          <p:spPr>
            <a:xfrm>
              <a:off x="12268200" y="5009257"/>
              <a:ext cx="4781550" cy="2952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pt-BR" sz="1800" noProof="0" dirty="0" err="1">
                  <a:solidFill>
                    <a:srgbClr val="1B53A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ManagerApp</a:t>
              </a:r>
              <a:endParaRPr lang="pt-BR" sz="1800" noProof="0" dirty="0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8F4DEBEF-C547-BB62-1E39-C0869AFA8876}"/>
                </a:ext>
              </a:extLst>
            </p:cNvPr>
            <p:cNvSpPr/>
            <p:nvPr/>
          </p:nvSpPr>
          <p:spPr>
            <a:xfrm>
              <a:off x="12268200" y="5418832"/>
              <a:ext cx="4781550" cy="3333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pt-BR" sz="1950" b="1" noProof="0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Aplicação de Gestão</a:t>
              </a:r>
              <a:endParaRPr lang="pt-BR" sz="1950" noProof="0" dirty="0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1ABBD534-D712-025C-5817-0AF505B91DFE}"/>
                </a:ext>
              </a:extLst>
            </p:cNvPr>
            <p:cNvSpPr/>
            <p:nvPr/>
          </p:nvSpPr>
          <p:spPr>
            <a:xfrm>
              <a:off x="12268200" y="5828407"/>
              <a:ext cx="4630674" cy="67806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40000"/>
                </a:lnSpc>
                <a:buNone/>
              </a:pPr>
              <a:r>
                <a:rPr lang="pt-BR" sz="1800" noProof="0" dirty="0">
                  <a:solidFill>
                    <a:srgbClr val="4A4A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Interface </a:t>
              </a:r>
              <a:r>
                <a:rPr lang="pt-BR" sz="1800" noProof="0" dirty="0" err="1">
                  <a:solidFill>
                    <a:srgbClr val="4A4A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Blazor</a:t>
              </a:r>
              <a:r>
                <a:rPr lang="pt-BR" sz="1800" noProof="0" dirty="0">
                  <a:solidFill>
                    <a:srgbClr val="4A4A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Server: gráficos, gestão e assistente conversacional.</a:t>
              </a:r>
              <a:endParaRPr lang="pt-BR" sz="1800" noProof="0" dirty="0"/>
            </a:p>
          </p:txBody>
        </p:sp>
      </p:grpSp>
      <p:sp>
        <p:nvSpPr>
          <p:cNvPr id="22" name="Shape 20">
            <a:extLst>
              <a:ext uri="{FF2B5EF4-FFF2-40B4-BE49-F238E27FC236}">
                <a16:creationId xmlns:a16="http://schemas.microsoft.com/office/drawing/2014/main" id="{791AFE0E-75DA-DA59-1E52-5C1DEEEA7D99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98B8041F-4089-99A9-2C41-FFF99BFD6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52DE4D9-293B-40AE-E85B-8C4475DBD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478" y="1371600"/>
            <a:ext cx="10682272" cy="7200000"/>
          </a:xfrm>
          <a:prstGeom prst="rect">
            <a:avLst/>
          </a:prstGeom>
        </p:spPr>
      </p:pic>
      <p:sp>
        <p:nvSpPr>
          <p:cNvPr id="17" name="Text 20">
            <a:extLst>
              <a:ext uri="{FF2B5EF4-FFF2-40B4-BE49-F238E27FC236}">
                <a16:creationId xmlns:a16="http://schemas.microsoft.com/office/drawing/2014/main" id="{1B6EB12F-19A9-F4C9-81AD-4AE76F4F8534}"/>
              </a:ext>
            </a:extLst>
          </p:cNvPr>
          <p:cNvSpPr/>
          <p:nvPr/>
        </p:nvSpPr>
        <p:spPr>
          <a:xfrm>
            <a:off x="1238250" y="9277350"/>
            <a:ext cx="142684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pt-BR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2 – ARQUITETURA E FLUXO DE DADOS DA PLATAFORMA EM SEU ESTADO INICIAL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736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330797" y="857250"/>
            <a:ext cx="572415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E SEU ESTADO INICIAL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8250" y="1314450"/>
            <a:ext cx="173926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2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NATUREZA REATIVA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38250" y="2105025"/>
            <a:ext cx="159258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inteligência analítica </a:t>
            </a:r>
            <a:r>
              <a:rPr lang="en-US" sz="225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existia </a:t>
            </a:r>
            <a:r>
              <a:rPr lang="en-US" sz="225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porém permanecia inerte até que o usuário formulasse uma consulta.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238250" y="5593556"/>
            <a:ext cx="7639050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238250" y="4683919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21197" y="4655344"/>
            <a:ext cx="68290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 da iniciativa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721197" y="5036344"/>
            <a:ext cx="682903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análise só ocorre mediante consulta explícita do usuário.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410700" y="5593556"/>
            <a:ext cx="7639050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410700" y="4683919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893647" y="4655344"/>
            <a:ext cx="729463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Conhecimento subutilizado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893647" y="5036344"/>
            <a:ext cx="729463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capacidade de classificação existia, mas permanecia ociosa.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238250" y="5860256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21197" y="5831681"/>
            <a:ext cx="78717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Ausência de antecipação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721197" y="6212681"/>
            <a:ext cx="7370786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Condições críticas só eram percebidas após o usuário investigá-las.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9410700" y="5860256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93647" y="5831681"/>
            <a:ext cx="78717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Acoplamento à interface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893647" y="6212681"/>
            <a:ext cx="7370786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8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regras de avaliação estavam embutidas na ferramenta do assistente.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238250" y="9277350"/>
            <a:ext cx="79080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1 — LIMITAÇÕES DO COMPORTAMENTO REATIVO</a:t>
            </a:r>
            <a:endParaRPr lang="en-US" sz="18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3767138"/>
            <a:ext cx="3244914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2500" b="1" kern="0" spc="-900" dirty="0">
                <a:solidFill>
                  <a:srgbClr val="E6E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4797772" y="3939034"/>
            <a:ext cx="105670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97772" y="4415284"/>
            <a:ext cx="9894601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E DEFINIÇÃO ARQUITETURAL</a:t>
            </a:r>
            <a:endParaRPr lang="en-US" sz="5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473547" y="92868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140297" y="800100"/>
            <a:ext cx="75570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E DEFINIÇÃO ARQUITETURAL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238250"/>
            <a:ext cx="178117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kern="0" spc="-2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ABORDAGEM ORIENTADA A ESPECIFICAÇÕES</a:t>
            </a:r>
          </a:p>
        </p:txBody>
      </p:sp>
      <p:sp>
        <p:nvSpPr>
          <p:cNvPr id="42" name="Text 40"/>
          <p:cNvSpPr/>
          <p:nvPr/>
        </p:nvSpPr>
        <p:spPr>
          <a:xfrm>
            <a:off x="1047750" y="9334500"/>
            <a:ext cx="91540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BDD3233C-7D1B-D212-8A5F-60FFCB8640AE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47" name="Image 0" descr="preencoded.png">
            <a:extLst>
              <a:ext uri="{FF2B5EF4-FFF2-40B4-BE49-F238E27FC236}">
                <a16:creationId xmlns:a16="http://schemas.microsoft.com/office/drawing/2014/main" id="{20C2A5DB-A121-4323-6BED-C15D0D5A6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44" name="Text 4">
            <a:extLst>
              <a:ext uri="{FF2B5EF4-FFF2-40B4-BE49-F238E27FC236}">
                <a16:creationId xmlns:a16="http://schemas.microsoft.com/office/drawing/2014/main" id="{6182D710-4C19-45EE-1AFF-9FE5EA701265}"/>
              </a:ext>
            </a:extLst>
          </p:cNvPr>
          <p:cNvSpPr/>
          <p:nvPr/>
        </p:nvSpPr>
        <p:spPr>
          <a:xfrm>
            <a:off x="1047750" y="3330388"/>
            <a:ext cx="158115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definição da mudança </a:t>
            </a:r>
            <a:r>
              <a:rPr lang="en-US" sz="22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 </a:t>
            </a:r>
            <a:r>
              <a:rPr lang="en-US" sz="2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sua implementação, por meio de artefatos formais sucessivos </a:t>
            </a:r>
            <a:r>
              <a:rPr lang="en-US" sz="2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(spec-driven development) </a:t>
            </a:r>
            <a:r>
              <a:rPr lang="en-US" sz="22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48" name="Shape 5">
            <a:extLst>
              <a:ext uri="{FF2B5EF4-FFF2-40B4-BE49-F238E27FC236}">
                <a16:creationId xmlns:a16="http://schemas.microsoft.com/office/drawing/2014/main" id="{F735C58E-2A84-C539-CAF8-A94B21F629D8}"/>
              </a:ext>
            </a:extLst>
          </p:cNvPr>
          <p:cNvSpPr/>
          <p:nvPr/>
        </p:nvSpPr>
        <p:spPr>
          <a:xfrm>
            <a:off x="1184433" y="4458596"/>
            <a:ext cx="3738563" cy="2369820"/>
          </a:xfrm>
          <a:prstGeom prst="rect">
            <a:avLst/>
          </a:prstGeom>
          <a:solidFill>
            <a:srgbClr val="FAFA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6">
            <a:extLst>
              <a:ext uri="{FF2B5EF4-FFF2-40B4-BE49-F238E27FC236}">
                <a16:creationId xmlns:a16="http://schemas.microsoft.com/office/drawing/2014/main" id="{D9CE71A1-A5E9-D9EC-9AE3-E7CCC549CAB4}"/>
              </a:ext>
            </a:extLst>
          </p:cNvPr>
          <p:cNvSpPr/>
          <p:nvPr/>
        </p:nvSpPr>
        <p:spPr>
          <a:xfrm>
            <a:off x="1184433" y="4458596"/>
            <a:ext cx="3738563" cy="22860"/>
          </a:xfrm>
          <a:prstGeom prst="rect">
            <a:avLst/>
          </a:prstGeom>
          <a:solidFill>
            <a:srgbClr val="1B53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7">
            <a:extLst>
              <a:ext uri="{FF2B5EF4-FFF2-40B4-BE49-F238E27FC236}">
                <a16:creationId xmlns:a16="http://schemas.microsoft.com/office/drawing/2014/main" id="{CC6CA78A-EE93-70CB-E33C-44D14472A77A}"/>
              </a:ext>
            </a:extLst>
          </p:cNvPr>
          <p:cNvSpPr/>
          <p:nvPr/>
        </p:nvSpPr>
        <p:spPr>
          <a:xfrm>
            <a:off x="1451133" y="4767206"/>
            <a:ext cx="352567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5" name="Text 8">
            <a:extLst>
              <a:ext uri="{FF2B5EF4-FFF2-40B4-BE49-F238E27FC236}">
                <a16:creationId xmlns:a16="http://schemas.microsoft.com/office/drawing/2014/main" id="{E99D8350-7831-5BBC-1DD6-303FD4D39BB9}"/>
              </a:ext>
            </a:extLst>
          </p:cNvPr>
          <p:cNvSpPr/>
          <p:nvPr/>
        </p:nvSpPr>
        <p:spPr>
          <a:xfrm>
            <a:off x="1451133" y="5197736"/>
            <a:ext cx="35256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</a:t>
            </a:r>
            <a:endParaRPr lang="en-US" sz="2100" dirty="0"/>
          </a:p>
        </p:txBody>
      </p:sp>
      <p:sp>
        <p:nvSpPr>
          <p:cNvPr id="57" name="Text 9">
            <a:extLst>
              <a:ext uri="{FF2B5EF4-FFF2-40B4-BE49-F238E27FC236}">
                <a16:creationId xmlns:a16="http://schemas.microsoft.com/office/drawing/2014/main" id="{D3FD6651-8364-FC58-4B29-0D0B695CFB70}"/>
              </a:ext>
            </a:extLst>
          </p:cNvPr>
          <p:cNvSpPr/>
          <p:nvPr/>
        </p:nvSpPr>
        <p:spPr>
          <a:xfrm>
            <a:off x="1451133" y="5597786"/>
            <a:ext cx="330131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Motivação e escopo da mudança.</a:t>
            </a:r>
            <a:endParaRPr lang="en-US" sz="1800" dirty="0"/>
          </a:p>
        </p:txBody>
      </p:sp>
      <p:sp>
        <p:nvSpPr>
          <p:cNvPr id="59" name="Shape 10">
            <a:extLst>
              <a:ext uri="{FF2B5EF4-FFF2-40B4-BE49-F238E27FC236}">
                <a16:creationId xmlns:a16="http://schemas.microsoft.com/office/drawing/2014/main" id="{D665CA5E-9F89-80A5-A62D-F99947715C78}"/>
              </a:ext>
            </a:extLst>
          </p:cNvPr>
          <p:cNvSpPr/>
          <p:nvPr/>
        </p:nvSpPr>
        <p:spPr>
          <a:xfrm>
            <a:off x="5208746" y="4458596"/>
            <a:ext cx="3738563" cy="2369820"/>
          </a:xfrm>
          <a:prstGeom prst="rect">
            <a:avLst/>
          </a:prstGeom>
          <a:solidFill>
            <a:srgbClr val="FAFA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Shape 11">
            <a:extLst>
              <a:ext uri="{FF2B5EF4-FFF2-40B4-BE49-F238E27FC236}">
                <a16:creationId xmlns:a16="http://schemas.microsoft.com/office/drawing/2014/main" id="{D1F327AE-7D23-3E82-207F-29007B1E8896}"/>
              </a:ext>
            </a:extLst>
          </p:cNvPr>
          <p:cNvSpPr/>
          <p:nvPr/>
        </p:nvSpPr>
        <p:spPr>
          <a:xfrm>
            <a:off x="5208746" y="4458596"/>
            <a:ext cx="3738563" cy="22860"/>
          </a:xfrm>
          <a:prstGeom prst="rect">
            <a:avLst/>
          </a:prstGeom>
          <a:solidFill>
            <a:srgbClr val="1B53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B052110D-B2F2-58E8-3B5E-01E1A6EB211F}"/>
              </a:ext>
            </a:extLst>
          </p:cNvPr>
          <p:cNvSpPr/>
          <p:nvPr/>
        </p:nvSpPr>
        <p:spPr>
          <a:xfrm>
            <a:off x="5475446" y="4767206"/>
            <a:ext cx="352567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65" name="Text 13">
            <a:extLst>
              <a:ext uri="{FF2B5EF4-FFF2-40B4-BE49-F238E27FC236}">
                <a16:creationId xmlns:a16="http://schemas.microsoft.com/office/drawing/2014/main" id="{3B8F5827-C6A2-FD44-0E38-0A95BAA420A4}"/>
              </a:ext>
            </a:extLst>
          </p:cNvPr>
          <p:cNvSpPr/>
          <p:nvPr/>
        </p:nvSpPr>
        <p:spPr>
          <a:xfrm>
            <a:off x="5475446" y="5197736"/>
            <a:ext cx="330131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Especificações de capacidades</a:t>
            </a:r>
            <a:endParaRPr lang="en-US" sz="2100" dirty="0"/>
          </a:p>
        </p:txBody>
      </p:sp>
      <p:sp>
        <p:nvSpPr>
          <p:cNvPr id="67" name="Text 14">
            <a:extLst>
              <a:ext uri="{FF2B5EF4-FFF2-40B4-BE49-F238E27FC236}">
                <a16:creationId xmlns:a16="http://schemas.microsoft.com/office/drawing/2014/main" id="{346AB2DD-607B-3A5A-824F-CBDE9CC90AF1}"/>
              </a:ext>
            </a:extLst>
          </p:cNvPr>
          <p:cNvSpPr/>
          <p:nvPr/>
        </p:nvSpPr>
        <p:spPr>
          <a:xfrm>
            <a:off x="5475446" y="5902586"/>
            <a:ext cx="330131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expressos em sentenças verificáveis.</a:t>
            </a:r>
            <a:endParaRPr lang="en-US" sz="1800" dirty="0"/>
          </a:p>
        </p:txBody>
      </p:sp>
      <p:sp>
        <p:nvSpPr>
          <p:cNvPr id="69" name="Shape 15">
            <a:extLst>
              <a:ext uri="{FF2B5EF4-FFF2-40B4-BE49-F238E27FC236}">
                <a16:creationId xmlns:a16="http://schemas.microsoft.com/office/drawing/2014/main" id="{B4881A7E-0897-22BD-FE66-24502AA8A018}"/>
              </a:ext>
            </a:extLst>
          </p:cNvPr>
          <p:cNvSpPr/>
          <p:nvPr/>
        </p:nvSpPr>
        <p:spPr>
          <a:xfrm>
            <a:off x="9233058" y="4458596"/>
            <a:ext cx="3738563" cy="2369820"/>
          </a:xfrm>
          <a:prstGeom prst="rect">
            <a:avLst/>
          </a:prstGeom>
          <a:solidFill>
            <a:srgbClr val="FAFA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Shape 16">
            <a:extLst>
              <a:ext uri="{FF2B5EF4-FFF2-40B4-BE49-F238E27FC236}">
                <a16:creationId xmlns:a16="http://schemas.microsoft.com/office/drawing/2014/main" id="{60016A76-1B5D-9A73-1C9F-79B7AA57E325}"/>
              </a:ext>
            </a:extLst>
          </p:cNvPr>
          <p:cNvSpPr/>
          <p:nvPr/>
        </p:nvSpPr>
        <p:spPr>
          <a:xfrm>
            <a:off x="9233058" y="4458596"/>
            <a:ext cx="3738563" cy="22860"/>
          </a:xfrm>
          <a:prstGeom prst="rect">
            <a:avLst/>
          </a:prstGeom>
          <a:solidFill>
            <a:srgbClr val="1B53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58519278-453C-E345-6713-994FF45491FC}"/>
              </a:ext>
            </a:extLst>
          </p:cNvPr>
          <p:cNvSpPr/>
          <p:nvPr/>
        </p:nvSpPr>
        <p:spPr>
          <a:xfrm>
            <a:off x="9499758" y="4767206"/>
            <a:ext cx="352567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75" name="Text 18">
            <a:extLst>
              <a:ext uri="{FF2B5EF4-FFF2-40B4-BE49-F238E27FC236}">
                <a16:creationId xmlns:a16="http://schemas.microsoft.com/office/drawing/2014/main" id="{1A4D1859-9BCC-BFE9-6BEE-A12791A80519}"/>
              </a:ext>
            </a:extLst>
          </p:cNvPr>
          <p:cNvSpPr/>
          <p:nvPr/>
        </p:nvSpPr>
        <p:spPr>
          <a:xfrm>
            <a:off x="9499758" y="5197736"/>
            <a:ext cx="35256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de projeto</a:t>
            </a:r>
            <a:endParaRPr lang="en-US" sz="2100" dirty="0"/>
          </a:p>
        </p:txBody>
      </p:sp>
      <p:sp>
        <p:nvSpPr>
          <p:cNvPr id="77" name="Text 19">
            <a:extLst>
              <a:ext uri="{FF2B5EF4-FFF2-40B4-BE49-F238E27FC236}">
                <a16:creationId xmlns:a16="http://schemas.microsoft.com/office/drawing/2014/main" id="{B0ECC2D0-50F5-3783-8B72-5BB7A3B1D0BB}"/>
              </a:ext>
            </a:extLst>
          </p:cNvPr>
          <p:cNvSpPr/>
          <p:nvPr/>
        </p:nvSpPr>
        <p:spPr>
          <a:xfrm>
            <a:off x="9499758" y="5597786"/>
            <a:ext cx="330131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técnicas e suas justificativas.</a:t>
            </a:r>
            <a:endParaRPr lang="en-US" sz="1800" dirty="0"/>
          </a:p>
        </p:txBody>
      </p:sp>
      <p:sp>
        <p:nvSpPr>
          <p:cNvPr id="79" name="Shape 20">
            <a:extLst>
              <a:ext uri="{FF2B5EF4-FFF2-40B4-BE49-F238E27FC236}">
                <a16:creationId xmlns:a16="http://schemas.microsoft.com/office/drawing/2014/main" id="{F8886634-0483-F26C-F78A-12341EB911ED}"/>
              </a:ext>
            </a:extLst>
          </p:cNvPr>
          <p:cNvSpPr/>
          <p:nvPr/>
        </p:nvSpPr>
        <p:spPr>
          <a:xfrm>
            <a:off x="13257371" y="4458596"/>
            <a:ext cx="3738563" cy="2369820"/>
          </a:xfrm>
          <a:prstGeom prst="rect">
            <a:avLst/>
          </a:prstGeom>
          <a:solidFill>
            <a:srgbClr val="FAFA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1" name="Shape 21">
            <a:extLst>
              <a:ext uri="{FF2B5EF4-FFF2-40B4-BE49-F238E27FC236}">
                <a16:creationId xmlns:a16="http://schemas.microsoft.com/office/drawing/2014/main" id="{6961340A-96A7-7938-F2D9-BEA6802F08B4}"/>
              </a:ext>
            </a:extLst>
          </p:cNvPr>
          <p:cNvSpPr/>
          <p:nvPr/>
        </p:nvSpPr>
        <p:spPr>
          <a:xfrm>
            <a:off x="13257371" y="4458596"/>
            <a:ext cx="3738563" cy="22860"/>
          </a:xfrm>
          <a:prstGeom prst="rect">
            <a:avLst/>
          </a:prstGeom>
          <a:solidFill>
            <a:srgbClr val="1B53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66BF76DB-EE28-13BF-F540-8B01CB317CE5}"/>
              </a:ext>
            </a:extLst>
          </p:cNvPr>
          <p:cNvSpPr/>
          <p:nvPr/>
        </p:nvSpPr>
        <p:spPr>
          <a:xfrm>
            <a:off x="13524071" y="4767206"/>
            <a:ext cx="352567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85" name="Text 23">
            <a:extLst>
              <a:ext uri="{FF2B5EF4-FFF2-40B4-BE49-F238E27FC236}">
                <a16:creationId xmlns:a16="http://schemas.microsoft.com/office/drawing/2014/main" id="{107B8E40-BF4D-FA5E-D434-D7B9088AD68E}"/>
              </a:ext>
            </a:extLst>
          </p:cNvPr>
          <p:cNvSpPr/>
          <p:nvPr/>
        </p:nvSpPr>
        <p:spPr>
          <a:xfrm>
            <a:off x="13524071" y="5197736"/>
            <a:ext cx="35256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tarefas</a:t>
            </a:r>
            <a:endParaRPr lang="en-US" sz="2100" dirty="0"/>
          </a:p>
        </p:txBody>
      </p:sp>
      <p:sp>
        <p:nvSpPr>
          <p:cNvPr id="87" name="Text 24">
            <a:extLst>
              <a:ext uri="{FF2B5EF4-FFF2-40B4-BE49-F238E27FC236}">
                <a16:creationId xmlns:a16="http://schemas.microsoft.com/office/drawing/2014/main" id="{1EB3FDCD-8EC9-A758-2A06-C1B01E78786A}"/>
              </a:ext>
            </a:extLst>
          </p:cNvPr>
          <p:cNvSpPr/>
          <p:nvPr/>
        </p:nvSpPr>
        <p:spPr>
          <a:xfrm>
            <a:off x="13524071" y="5597786"/>
            <a:ext cx="3301317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Decomposição executável do trabalho.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1C3A3-C463-5A66-6025-F0C047407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C00266-5C81-1EC2-E8B9-85582F67C3E9}"/>
              </a:ext>
            </a:extLst>
          </p:cNvPr>
          <p:cNvSpPr/>
          <p:nvPr/>
        </p:nvSpPr>
        <p:spPr>
          <a:xfrm>
            <a:off x="1047750" y="80010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18E200A-D3DC-BAF2-C979-D58A596F538B}"/>
              </a:ext>
            </a:extLst>
          </p:cNvPr>
          <p:cNvSpPr/>
          <p:nvPr/>
        </p:nvSpPr>
        <p:spPr>
          <a:xfrm>
            <a:off x="1473547" y="92868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DD0A5CB-0C92-DA2C-2A54-959C6A2987F2}"/>
              </a:ext>
            </a:extLst>
          </p:cNvPr>
          <p:cNvSpPr/>
          <p:nvPr/>
        </p:nvSpPr>
        <p:spPr>
          <a:xfrm>
            <a:off x="2140297" y="800100"/>
            <a:ext cx="75570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E DEFINIÇÃO ARQUITETURAL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BFCB5EA-D87F-6B7E-8E9C-4B4FFD06DCD6}"/>
              </a:ext>
            </a:extLst>
          </p:cNvPr>
          <p:cNvSpPr/>
          <p:nvPr/>
        </p:nvSpPr>
        <p:spPr>
          <a:xfrm>
            <a:off x="1047750" y="1238250"/>
            <a:ext cx="178117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kern="0" spc="-2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DO DESENVOLVIMENTO</a:t>
            </a: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6646F7F5-77B2-5590-EA45-3835C890C811}"/>
              </a:ext>
            </a:extLst>
          </p:cNvPr>
          <p:cNvSpPr/>
          <p:nvPr/>
        </p:nvSpPr>
        <p:spPr>
          <a:xfrm>
            <a:off x="1047750" y="9334500"/>
            <a:ext cx="91540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49B85EFF-0B87-6F4B-7E4C-FD05C0CDF923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47" name="Image 0" descr="preencoded.png">
            <a:extLst>
              <a:ext uri="{FF2B5EF4-FFF2-40B4-BE49-F238E27FC236}">
                <a16:creationId xmlns:a16="http://schemas.microsoft.com/office/drawing/2014/main" id="{F8E8FD3D-6456-5EE7-DBA5-14D5F128E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74663655-8A73-C7FF-30A0-2690B8DA324C}"/>
              </a:ext>
            </a:extLst>
          </p:cNvPr>
          <p:cNvSpPr/>
          <p:nvPr/>
        </p:nvSpPr>
        <p:spPr>
          <a:xfrm>
            <a:off x="1047750" y="2024062"/>
            <a:ext cx="15925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incremental — cada etapa preservou o </a:t>
            </a: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</a:t>
            </a:r>
            <a:r>
              <a:rPr lang="en-US" sz="2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os </a:t>
            </a: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</a:t>
            </a:r>
            <a:r>
              <a:rPr lang="en-US" sz="2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anterior.</a:t>
            </a:r>
            <a:endParaRPr lang="en-US" sz="2100" dirty="0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FF7261CE-AF75-C305-6DF6-7E4658BD50A3}"/>
              </a:ext>
            </a:extLst>
          </p:cNvPr>
          <p:cNvSpPr/>
          <p:nvPr/>
        </p:nvSpPr>
        <p:spPr>
          <a:xfrm>
            <a:off x="1213023" y="3959066"/>
            <a:ext cx="15430500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2505AA14-FA49-3A8C-3680-67064C704654}"/>
              </a:ext>
            </a:extLst>
          </p:cNvPr>
          <p:cNvSpPr/>
          <p:nvPr/>
        </p:nvSpPr>
        <p:spPr>
          <a:xfrm>
            <a:off x="1213023" y="3073241"/>
            <a:ext cx="533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AEFBC0FB-1D19-CBDD-37C7-3DC431596329}"/>
              </a:ext>
            </a:extLst>
          </p:cNvPr>
          <p:cNvSpPr/>
          <p:nvPr/>
        </p:nvSpPr>
        <p:spPr>
          <a:xfrm>
            <a:off x="2013123" y="3073241"/>
            <a:ext cx="160934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Provisão da infraestrutura</a:t>
            </a:r>
            <a:endParaRPr lang="en-US" sz="210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0CE8D494-F5AB-DBBE-3A94-BC58364FA2CC}"/>
              </a:ext>
            </a:extLst>
          </p:cNvPr>
          <p:cNvSpPr/>
          <p:nvPr/>
        </p:nvSpPr>
        <p:spPr>
          <a:xfrm>
            <a:off x="2013123" y="3435191"/>
            <a:ext cx="160934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do broker de mensagens e do esquema de persistência dedicado.</a:t>
            </a:r>
            <a:endParaRPr lang="en-US" sz="1875" dirty="0"/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08254D51-645A-C22F-7E40-35C649C18F7B}"/>
              </a:ext>
            </a:extLst>
          </p:cNvPr>
          <p:cNvSpPr/>
          <p:nvPr/>
        </p:nvSpPr>
        <p:spPr>
          <a:xfrm>
            <a:off x="1213023" y="5062061"/>
            <a:ext cx="15430500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55A7FCCF-72AB-E1E6-A4D8-02D79473E1A8}"/>
              </a:ext>
            </a:extLst>
          </p:cNvPr>
          <p:cNvSpPr/>
          <p:nvPr/>
        </p:nvSpPr>
        <p:spPr>
          <a:xfrm>
            <a:off x="1213023" y="4176236"/>
            <a:ext cx="533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8EBFC640-4EB4-C989-ADD7-2FA036762CB1}"/>
              </a:ext>
            </a:extLst>
          </p:cNvPr>
          <p:cNvSpPr/>
          <p:nvPr/>
        </p:nvSpPr>
        <p:spPr>
          <a:xfrm>
            <a:off x="2013123" y="4176236"/>
            <a:ext cx="160934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Extração da lógica de avaliação</a:t>
            </a:r>
            <a:endParaRPr lang="en-US" sz="21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23234567-D360-282D-31D2-85FE8B26A645}"/>
              </a:ext>
            </a:extLst>
          </p:cNvPr>
          <p:cNvSpPr/>
          <p:nvPr/>
        </p:nvSpPr>
        <p:spPr>
          <a:xfrm>
            <a:off x="2013123" y="4538186"/>
            <a:ext cx="160934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uma capacidade de domínio compartilhada — refatoração comportamentalmente neutra.</a:t>
            </a:r>
            <a:endParaRPr lang="en-US" sz="1875" dirty="0"/>
          </a:p>
        </p:txBody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D17292B9-C04C-3F16-BBA8-7C0419C089E9}"/>
              </a:ext>
            </a:extLst>
          </p:cNvPr>
          <p:cNvSpPr/>
          <p:nvPr/>
        </p:nvSpPr>
        <p:spPr>
          <a:xfrm>
            <a:off x="1213023" y="6165056"/>
            <a:ext cx="15430500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264A5A62-62C4-05BC-7CAE-09C65A0FA316}"/>
              </a:ext>
            </a:extLst>
          </p:cNvPr>
          <p:cNvSpPr/>
          <p:nvPr/>
        </p:nvSpPr>
        <p:spPr>
          <a:xfrm>
            <a:off x="1213023" y="5279231"/>
            <a:ext cx="533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B85AB1BD-4D20-C5AF-784D-36828B5ED658}"/>
              </a:ext>
            </a:extLst>
          </p:cNvPr>
          <p:cNvSpPr/>
          <p:nvPr/>
        </p:nvSpPr>
        <p:spPr>
          <a:xfrm>
            <a:off x="2013123" y="5279231"/>
            <a:ext cx="160934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de mensageria</a:t>
            </a:r>
            <a:endParaRPr lang="en-US" sz="2100" dirty="0"/>
          </a:p>
        </p:txBody>
      </p:sp>
      <p:sp>
        <p:nvSpPr>
          <p:cNvPr id="58" name="Text 16">
            <a:extLst>
              <a:ext uri="{FF2B5EF4-FFF2-40B4-BE49-F238E27FC236}">
                <a16:creationId xmlns:a16="http://schemas.microsoft.com/office/drawing/2014/main" id="{ABE9BB91-0EC6-264E-7808-9AE0F9CA5579}"/>
              </a:ext>
            </a:extLst>
          </p:cNvPr>
          <p:cNvSpPr/>
          <p:nvPr/>
        </p:nvSpPr>
        <p:spPr>
          <a:xfrm>
            <a:off x="2013123" y="5641181"/>
            <a:ext cx="160934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Publicação do evento no Trabalhador de Dados, condicionada a um sinalizador de configuração.</a:t>
            </a:r>
            <a:endParaRPr lang="en-US" sz="1875" dirty="0"/>
          </a:p>
        </p:txBody>
      </p:sp>
      <p:sp>
        <p:nvSpPr>
          <p:cNvPr id="62" name="Shape 17">
            <a:extLst>
              <a:ext uri="{FF2B5EF4-FFF2-40B4-BE49-F238E27FC236}">
                <a16:creationId xmlns:a16="http://schemas.microsoft.com/office/drawing/2014/main" id="{9953D3DF-3D22-E942-230F-62BB4196FF97}"/>
              </a:ext>
            </a:extLst>
          </p:cNvPr>
          <p:cNvSpPr/>
          <p:nvPr/>
        </p:nvSpPr>
        <p:spPr>
          <a:xfrm>
            <a:off x="1213023" y="7268051"/>
            <a:ext cx="15430500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18">
            <a:extLst>
              <a:ext uri="{FF2B5EF4-FFF2-40B4-BE49-F238E27FC236}">
                <a16:creationId xmlns:a16="http://schemas.microsoft.com/office/drawing/2014/main" id="{6F6B0BDE-3B2F-7D88-D862-0CCCC5913087}"/>
              </a:ext>
            </a:extLst>
          </p:cNvPr>
          <p:cNvSpPr/>
          <p:nvPr/>
        </p:nvSpPr>
        <p:spPr>
          <a:xfrm>
            <a:off x="1213023" y="6382226"/>
            <a:ext cx="533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00" dirty="0"/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BF9A3CDB-97D9-C522-6F18-7338B6F1ADDA}"/>
              </a:ext>
            </a:extLst>
          </p:cNvPr>
          <p:cNvSpPr/>
          <p:nvPr/>
        </p:nvSpPr>
        <p:spPr>
          <a:xfrm>
            <a:off x="2013123" y="6382226"/>
            <a:ext cx="160934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processo hospedeiro</a:t>
            </a:r>
            <a:endParaRPr lang="en-US" sz="2100" dirty="0"/>
          </a:p>
        </p:txBody>
      </p:sp>
      <p:sp>
        <p:nvSpPr>
          <p:cNvPr id="74" name="Text 20">
            <a:extLst>
              <a:ext uri="{FF2B5EF4-FFF2-40B4-BE49-F238E27FC236}">
                <a16:creationId xmlns:a16="http://schemas.microsoft.com/office/drawing/2014/main" id="{6C75F54C-9C1B-A2FF-1D7D-456F6CE1A5C1}"/>
              </a:ext>
            </a:extLst>
          </p:cNvPr>
          <p:cNvSpPr/>
          <p:nvPr/>
        </p:nvSpPr>
        <p:spPr>
          <a:xfrm>
            <a:off x="2013123" y="6744176"/>
            <a:ext cx="160934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 do host com os agentes e o componente recomendador.</a:t>
            </a:r>
            <a:endParaRPr lang="en-US" sz="1875" dirty="0"/>
          </a:p>
        </p:txBody>
      </p:sp>
      <p:sp>
        <p:nvSpPr>
          <p:cNvPr id="78" name="Text 21">
            <a:extLst>
              <a:ext uri="{FF2B5EF4-FFF2-40B4-BE49-F238E27FC236}">
                <a16:creationId xmlns:a16="http://schemas.microsoft.com/office/drawing/2014/main" id="{DF878FAD-29DC-8A70-A360-4DA51F26CD4B}"/>
              </a:ext>
            </a:extLst>
          </p:cNvPr>
          <p:cNvSpPr/>
          <p:nvPr/>
        </p:nvSpPr>
        <p:spPr>
          <a:xfrm>
            <a:off x="1213023" y="7485221"/>
            <a:ext cx="533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100" dirty="0"/>
          </a:p>
        </p:txBody>
      </p:sp>
      <p:sp>
        <p:nvSpPr>
          <p:cNvPr id="82" name="Text 22">
            <a:extLst>
              <a:ext uri="{FF2B5EF4-FFF2-40B4-BE49-F238E27FC236}">
                <a16:creationId xmlns:a16="http://schemas.microsoft.com/office/drawing/2014/main" id="{9C4260DE-86A0-AA8B-EA78-F41546A2611A}"/>
              </a:ext>
            </a:extLst>
          </p:cNvPr>
          <p:cNvSpPr/>
          <p:nvPr/>
        </p:nvSpPr>
        <p:spPr>
          <a:xfrm>
            <a:off x="2013123" y="7485221"/>
            <a:ext cx="160934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Exposição das recomendações</a:t>
            </a:r>
            <a:endParaRPr lang="en-US" sz="2100" dirty="0"/>
          </a:p>
        </p:txBody>
      </p:sp>
      <p:sp>
        <p:nvSpPr>
          <p:cNvPr id="86" name="Text 23">
            <a:extLst>
              <a:ext uri="{FF2B5EF4-FFF2-40B4-BE49-F238E27FC236}">
                <a16:creationId xmlns:a16="http://schemas.microsoft.com/office/drawing/2014/main" id="{37CC5998-1E49-28FE-E256-2FC6E2921A26}"/>
              </a:ext>
            </a:extLst>
          </p:cNvPr>
          <p:cNvSpPr/>
          <p:nvPr/>
        </p:nvSpPr>
        <p:spPr>
          <a:xfrm>
            <a:off x="2013123" y="7847171"/>
            <a:ext cx="160934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interface de apresentação e ao assistente conversacional.</a:t>
            </a:r>
            <a:endParaRPr lang="en-US" sz="1875" dirty="0"/>
          </a:p>
        </p:txBody>
      </p:sp>
    </p:spTree>
    <p:extLst>
      <p:ext uri="{BB962C8B-B14F-4D97-AF65-F5344CB8AC3E}">
        <p14:creationId xmlns:p14="http://schemas.microsoft.com/office/powerpoint/2010/main" val="4080306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C10E06-1498-1C1C-F906-C001CAD0C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678B95-CE56-028B-3EDF-9B4F9D7A1294}"/>
              </a:ext>
            </a:extLst>
          </p:cNvPr>
          <p:cNvSpPr/>
          <p:nvPr/>
        </p:nvSpPr>
        <p:spPr>
          <a:xfrm>
            <a:off x="1047750" y="80010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961ED5-B882-8F97-1670-903420510A2C}"/>
              </a:ext>
            </a:extLst>
          </p:cNvPr>
          <p:cNvSpPr/>
          <p:nvPr/>
        </p:nvSpPr>
        <p:spPr>
          <a:xfrm>
            <a:off x="1473547" y="92868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1E666F1-73EC-E075-0ABD-A9F01F0F2B66}"/>
              </a:ext>
            </a:extLst>
          </p:cNvPr>
          <p:cNvSpPr/>
          <p:nvPr/>
        </p:nvSpPr>
        <p:spPr>
          <a:xfrm>
            <a:off x="2140297" y="800100"/>
            <a:ext cx="75570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E DEFINIÇÃO ARQUITETURAL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00E87D9-A2E7-8610-74E8-313FB716866D}"/>
              </a:ext>
            </a:extLst>
          </p:cNvPr>
          <p:cNvSpPr/>
          <p:nvPr/>
        </p:nvSpPr>
        <p:spPr>
          <a:xfrm>
            <a:off x="1047750" y="1238250"/>
            <a:ext cx="178117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kern="0" spc="-2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TECNOLÓGICO</a:t>
            </a: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5A39357B-ECEB-8B19-DB33-2E87EBC88401}"/>
              </a:ext>
            </a:extLst>
          </p:cNvPr>
          <p:cNvSpPr/>
          <p:nvPr/>
        </p:nvSpPr>
        <p:spPr>
          <a:xfrm>
            <a:off x="1047750" y="9334500"/>
            <a:ext cx="91540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35CF2031-D690-0E80-48C3-B801FB77E1D6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47" name="Image 0" descr="preencoded.png">
            <a:extLst>
              <a:ext uri="{FF2B5EF4-FFF2-40B4-BE49-F238E27FC236}">
                <a16:creationId xmlns:a16="http://schemas.microsoft.com/office/drawing/2014/main" id="{47AFD909-E478-AC2D-0777-9AC42D257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754F1F5B-532A-E60D-D675-AE85910CA802}"/>
              </a:ext>
            </a:extLst>
          </p:cNvPr>
          <p:cNvSpPr/>
          <p:nvPr/>
        </p:nvSpPr>
        <p:spPr>
          <a:xfrm>
            <a:off x="1047750" y="2024062"/>
            <a:ext cx="15925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2100" dirty="0" err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Artefato</a:t>
            </a:r>
            <a:r>
              <a:rPr lang="en-US" sz="2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dirty="0" err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desenvolvido</a:t>
            </a:r>
            <a:r>
              <a:rPr lang="en-US" sz="2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dirty="0" err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</a:t>
            </a:r>
            <a:r>
              <a:rPr lang="en-US" sz="2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2100" dirty="0" err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</a:t>
            </a:r>
            <a:r>
              <a:rPr lang="en-US" sz="2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10</a:t>
            </a:r>
            <a:r>
              <a:rPr lang="en-US" sz="2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100" dirty="0" err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organizada</a:t>
            </a:r>
            <a:r>
              <a:rPr lang="en-US" sz="2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dirty="0" err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r>
              <a:rPr lang="en-US" sz="2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100" i="1" dirty="0" err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monorepo</a:t>
            </a:r>
            <a:r>
              <a:rPr lang="en-US" sz="2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BE7F484-81F5-2EF2-6F27-859318682C1A}"/>
              </a:ext>
            </a:extLst>
          </p:cNvPr>
          <p:cNvSpPr/>
          <p:nvPr/>
        </p:nvSpPr>
        <p:spPr>
          <a:xfrm>
            <a:off x="1047750" y="3626882"/>
            <a:ext cx="5092661" cy="1888569"/>
          </a:xfrm>
          <a:prstGeom prst="rect">
            <a:avLst/>
          </a:prstGeom>
          <a:solidFill>
            <a:srgbClr val="FAFA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BC631AAE-9A22-64AF-65AA-7AEF00F83E26}"/>
              </a:ext>
            </a:extLst>
          </p:cNvPr>
          <p:cNvSpPr/>
          <p:nvPr/>
        </p:nvSpPr>
        <p:spPr>
          <a:xfrm>
            <a:off x="1047750" y="3626882"/>
            <a:ext cx="5092661" cy="22860"/>
          </a:xfrm>
          <a:prstGeom prst="rect">
            <a:avLst/>
          </a:prstGeom>
          <a:solidFill>
            <a:srgbClr val="1B53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E547F13E-FEAF-82B6-7371-B12E5F73A3A3}"/>
              </a:ext>
            </a:extLst>
          </p:cNvPr>
          <p:cNvSpPr/>
          <p:nvPr/>
        </p:nvSpPr>
        <p:spPr>
          <a:xfrm>
            <a:off x="1314450" y="3916442"/>
            <a:ext cx="501518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kern="0" spc="207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PERSISTÊNCIA</a:t>
            </a:r>
            <a:endParaRPr lang="en-US" sz="1725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56D559DE-946F-EC17-D0AE-CDCFC029AFE6}"/>
              </a:ext>
            </a:extLst>
          </p:cNvPr>
          <p:cNvSpPr/>
          <p:nvPr/>
        </p:nvSpPr>
        <p:spPr>
          <a:xfrm>
            <a:off x="1314450" y="4301252"/>
            <a:ext cx="50151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5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 · Redis</a:t>
            </a:r>
            <a:endParaRPr lang="en-US" sz="1875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F7A4F7B3-9443-C837-CC83-CF6B48BFC280}"/>
              </a:ext>
            </a:extLst>
          </p:cNvPr>
          <p:cNvSpPr/>
          <p:nvPr/>
        </p:nvSpPr>
        <p:spPr>
          <a:xfrm>
            <a:off x="1314450" y="4644152"/>
            <a:ext cx="4696038" cy="642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7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consolidados e recomendações; buffer de leituras.</a:t>
            </a:r>
            <a:endParaRPr lang="en-US" sz="1725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E8FA4A0D-8E24-7770-66B7-54986CE5C2F1}"/>
              </a:ext>
            </a:extLst>
          </p:cNvPr>
          <p:cNvSpPr/>
          <p:nvPr/>
        </p:nvSpPr>
        <p:spPr>
          <a:xfrm>
            <a:off x="6407111" y="3626882"/>
            <a:ext cx="5092661" cy="1888569"/>
          </a:xfrm>
          <a:prstGeom prst="rect">
            <a:avLst/>
          </a:prstGeom>
          <a:solidFill>
            <a:srgbClr val="FAFA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B3A4B419-C444-E718-43AA-A8AD16A9CF56}"/>
              </a:ext>
            </a:extLst>
          </p:cNvPr>
          <p:cNvSpPr/>
          <p:nvPr/>
        </p:nvSpPr>
        <p:spPr>
          <a:xfrm>
            <a:off x="6407111" y="3626882"/>
            <a:ext cx="5092661" cy="22860"/>
          </a:xfrm>
          <a:prstGeom prst="rect">
            <a:avLst/>
          </a:prstGeom>
          <a:solidFill>
            <a:srgbClr val="1B53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1A6883DE-9A0A-568F-CECB-E495206406B3}"/>
              </a:ext>
            </a:extLst>
          </p:cNvPr>
          <p:cNvSpPr/>
          <p:nvPr/>
        </p:nvSpPr>
        <p:spPr>
          <a:xfrm>
            <a:off x="6673811" y="3916442"/>
            <a:ext cx="501518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kern="0" spc="207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MENSAGERIA</a:t>
            </a:r>
            <a:endParaRPr lang="en-US" sz="1725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4FE616D4-F8EE-B5C4-9917-720DED324561}"/>
              </a:ext>
            </a:extLst>
          </p:cNvPr>
          <p:cNvSpPr/>
          <p:nvPr/>
        </p:nvSpPr>
        <p:spPr>
          <a:xfrm>
            <a:off x="6673811" y="4301252"/>
            <a:ext cx="50151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5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RabbitMQ · MassTransit</a:t>
            </a:r>
            <a:endParaRPr lang="en-US" sz="1875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DEDD5EA9-D8BF-2FB5-FFD5-A775CA0E36BE}"/>
              </a:ext>
            </a:extLst>
          </p:cNvPr>
          <p:cNvSpPr/>
          <p:nvPr/>
        </p:nvSpPr>
        <p:spPr>
          <a:xfrm>
            <a:off x="6673811" y="4644152"/>
            <a:ext cx="4696038" cy="642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7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Assíncrona; biblioteca fixada na versão 8.5.7 (Apache-2.0).</a:t>
            </a:r>
            <a:endParaRPr lang="en-US" sz="1725" dirty="0"/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40DE88B7-8E66-5F3E-601E-E03E5FA5506D}"/>
              </a:ext>
            </a:extLst>
          </p:cNvPr>
          <p:cNvSpPr/>
          <p:nvPr/>
        </p:nvSpPr>
        <p:spPr>
          <a:xfrm>
            <a:off x="11766471" y="3626882"/>
            <a:ext cx="5092661" cy="1888569"/>
          </a:xfrm>
          <a:prstGeom prst="rect">
            <a:avLst/>
          </a:prstGeom>
          <a:solidFill>
            <a:srgbClr val="FAFA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38FB9D5C-225D-451B-4374-ACB0ED17FCD8}"/>
              </a:ext>
            </a:extLst>
          </p:cNvPr>
          <p:cNvSpPr/>
          <p:nvPr/>
        </p:nvSpPr>
        <p:spPr>
          <a:xfrm>
            <a:off x="11766471" y="3626882"/>
            <a:ext cx="5092661" cy="22860"/>
          </a:xfrm>
          <a:prstGeom prst="rect">
            <a:avLst/>
          </a:prstGeom>
          <a:solidFill>
            <a:srgbClr val="1B53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3C87D0C6-A02D-1B19-EC76-6F683A6232BB}"/>
              </a:ext>
            </a:extLst>
          </p:cNvPr>
          <p:cNvSpPr/>
          <p:nvPr/>
        </p:nvSpPr>
        <p:spPr>
          <a:xfrm>
            <a:off x="12033171" y="3916442"/>
            <a:ext cx="501518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kern="0" spc="207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GENERATIVA</a:t>
            </a:r>
            <a:endParaRPr lang="en-US" sz="1725" dirty="0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75B6AB01-9E7D-EB07-D0DE-A062B490743E}"/>
              </a:ext>
            </a:extLst>
          </p:cNvPr>
          <p:cNvSpPr/>
          <p:nvPr/>
        </p:nvSpPr>
        <p:spPr>
          <a:xfrm>
            <a:off x="12033171" y="4301252"/>
            <a:ext cx="50151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5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</a:t>
            </a:r>
            <a:endParaRPr lang="en-US" sz="1875" dirty="0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AC4DEAB8-1062-C04B-F5DC-94B30263AF0A}"/>
              </a:ext>
            </a:extLst>
          </p:cNvPr>
          <p:cNvSpPr/>
          <p:nvPr/>
        </p:nvSpPr>
        <p:spPr>
          <a:xfrm>
            <a:off x="12033171" y="4644152"/>
            <a:ext cx="4696038" cy="642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725" dirty="0" err="1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</a:t>
            </a:r>
            <a:r>
              <a:rPr lang="en-US" sz="17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25" dirty="0" err="1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executar</a:t>
            </a:r>
            <a:r>
              <a:rPr lang="en-US" sz="17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25" dirty="0" err="1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</a:t>
            </a:r>
            <a:r>
              <a:rPr lang="en-US" sz="17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725" dirty="0" err="1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</a:t>
            </a:r>
            <a:r>
              <a:rPr lang="en-US" sz="17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25" dirty="0" err="1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localmente</a:t>
            </a:r>
            <a:r>
              <a:rPr lang="en-US" sz="17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geração em linguagem natural.</a:t>
            </a:r>
            <a:endParaRPr lang="en-US" sz="1725" dirty="0"/>
          </a:p>
        </p:txBody>
      </p:sp>
      <p:sp>
        <p:nvSpPr>
          <p:cNvPr id="51" name="Shape 20">
            <a:extLst>
              <a:ext uri="{FF2B5EF4-FFF2-40B4-BE49-F238E27FC236}">
                <a16:creationId xmlns:a16="http://schemas.microsoft.com/office/drawing/2014/main" id="{B6669FB9-1C6E-43F7-FBAC-D1CC14C66055}"/>
              </a:ext>
            </a:extLst>
          </p:cNvPr>
          <p:cNvSpPr/>
          <p:nvPr/>
        </p:nvSpPr>
        <p:spPr>
          <a:xfrm>
            <a:off x="1047750" y="5782151"/>
            <a:ext cx="5092661" cy="1888569"/>
          </a:xfrm>
          <a:prstGeom prst="rect">
            <a:avLst/>
          </a:prstGeom>
          <a:solidFill>
            <a:srgbClr val="FAFA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21">
            <a:extLst>
              <a:ext uri="{FF2B5EF4-FFF2-40B4-BE49-F238E27FC236}">
                <a16:creationId xmlns:a16="http://schemas.microsoft.com/office/drawing/2014/main" id="{492FF360-6542-CC4D-1DF9-4D5A1359629C}"/>
              </a:ext>
            </a:extLst>
          </p:cNvPr>
          <p:cNvSpPr/>
          <p:nvPr/>
        </p:nvSpPr>
        <p:spPr>
          <a:xfrm>
            <a:off x="1047750" y="5782151"/>
            <a:ext cx="5092661" cy="22860"/>
          </a:xfrm>
          <a:prstGeom prst="rect">
            <a:avLst/>
          </a:prstGeom>
          <a:solidFill>
            <a:srgbClr val="1B53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0EAAE913-A08C-897D-4453-F427BE475372}"/>
              </a:ext>
            </a:extLst>
          </p:cNvPr>
          <p:cNvSpPr/>
          <p:nvPr/>
        </p:nvSpPr>
        <p:spPr>
          <a:xfrm>
            <a:off x="1314450" y="6071711"/>
            <a:ext cx="501518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kern="0" spc="207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COLETA EM CAMPO</a:t>
            </a:r>
            <a:endParaRPr lang="en-US" sz="1725" dirty="0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1A0E1DE7-C462-6DA3-F95D-B28D5D644862}"/>
              </a:ext>
            </a:extLst>
          </p:cNvPr>
          <p:cNvSpPr/>
          <p:nvPr/>
        </p:nvSpPr>
        <p:spPr>
          <a:xfrm>
            <a:off x="1314450" y="6456521"/>
            <a:ext cx="50151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5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ESP32</a:t>
            </a:r>
            <a:endParaRPr lang="en-US" sz="1875" dirty="0"/>
          </a:p>
        </p:txBody>
      </p:sp>
      <p:sp>
        <p:nvSpPr>
          <p:cNvPr id="61" name="Text 24">
            <a:extLst>
              <a:ext uri="{FF2B5EF4-FFF2-40B4-BE49-F238E27FC236}">
                <a16:creationId xmlns:a16="http://schemas.microsoft.com/office/drawing/2014/main" id="{BFAA3523-03ED-0928-F54E-F7F4BEB1BE8C}"/>
              </a:ext>
            </a:extLst>
          </p:cNvPr>
          <p:cNvSpPr/>
          <p:nvPr/>
        </p:nvSpPr>
        <p:spPr>
          <a:xfrm>
            <a:off x="1314450" y="6799421"/>
            <a:ext cx="4696038" cy="642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7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Microcontroladores que enviam a telemetria dos sensores.</a:t>
            </a:r>
            <a:endParaRPr lang="en-US" sz="1725" dirty="0"/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B7F5C971-426B-CE2E-251D-C883B6A74490}"/>
              </a:ext>
            </a:extLst>
          </p:cNvPr>
          <p:cNvSpPr/>
          <p:nvPr/>
        </p:nvSpPr>
        <p:spPr>
          <a:xfrm>
            <a:off x="6407111" y="5782151"/>
            <a:ext cx="5092661" cy="1888569"/>
          </a:xfrm>
          <a:prstGeom prst="rect">
            <a:avLst/>
          </a:prstGeom>
          <a:solidFill>
            <a:srgbClr val="FAFA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Shape 26">
            <a:extLst>
              <a:ext uri="{FF2B5EF4-FFF2-40B4-BE49-F238E27FC236}">
                <a16:creationId xmlns:a16="http://schemas.microsoft.com/office/drawing/2014/main" id="{C2061A01-B8C3-79A7-67B7-7CF5D3968B6C}"/>
              </a:ext>
            </a:extLst>
          </p:cNvPr>
          <p:cNvSpPr/>
          <p:nvPr/>
        </p:nvSpPr>
        <p:spPr>
          <a:xfrm>
            <a:off x="6407111" y="5782151"/>
            <a:ext cx="5092661" cy="22860"/>
          </a:xfrm>
          <a:prstGeom prst="rect">
            <a:avLst/>
          </a:prstGeom>
          <a:solidFill>
            <a:srgbClr val="1B53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Text 27">
            <a:extLst>
              <a:ext uri="{FF2B5EF4-FFF2-40B4-BE49-F238E27FC236}">
                <a16:creationId xmlns:a16="http://schemas.microsoft.com/office/drawing/2014/main" id="{EEE48C1C-140D-783E-6427-FFB087A9F801}"/>
              </a:ext>
            </a:extLst>
          </p:cNvPr>
          <p:cNvSpPr/>
          <p:nvPr/>
        </p:nvSpPr>
        <p:spPr>
          <a:xfrm>
            <a:off x="6673811" y="6071711"/>
            <a:ext cx="501518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kern="0" spc="207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725" dirty="0"/>
          </a:p>
        </p:txBody>
      </p:sp>
      <p:sp>
        <p:nvSpPr>
          <p:cNvPr id="72" name="Text 28">
            <a:extLst>
              <a:ext uri="{FF2B5EF4-FFF2-40B4-BE49-F238E27FC236}">
                <a16:creationId xmlns:a16="http://schemas.microsoft.com/office/drawing/2014/main" id="{7053BC4F-E811-7748-955A-B5D31797DD08}"/>
              </a:ext>
            </a:extLst>
          </p:cNvPr>
          <p:cNvSpPr/>
          <p:nvPr/>
        </p:nvSpPr>
        <p:spPr>
          <a:xfrm>
            <a:off x="6673811" y="6456521"/>
            <a:ext cx="50151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5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Blazor Server</a:t>
            </a:r>
            <a:endParaRPr lang="en-US" sz="1875" dirty="0"/>
          </a:p>
        </p:txBody>
      </p:sp>
      <p:sp>
        <p:nvSpPr>
          <p:cNvPr id="75" name="Text 29">
            <a:extLst>
              <a:ext uri="{FF2B5EF4-FFF2-40B4-BE49-F238E27FC236}">
                <a16:creationId xmlns:a16="http://schemas.microsoft.com/office/drawing/2014/main" id="{8413D352-26F4-7936-2D22-33E2CF24B020}"/>
              </a:ext>
            </a:extLst>
          </p:cNvPr>
          <p:cNvSpPr/>
          <p:nvPr/>
        </p:nvSpPr>
        <p:spPr>
          <a:xfrm>
            <a:off x="6673811" y="6799421"/>
            <a:ext cx="4696038" cy="642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7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Construção da interface de usuário da plataforma.</a:t>
            </a:r>
            <a:endParaRPr lang="en-US" sz="1725" dirty="0"/>
          </a:p>
        </p:txBody>
      </p:sp>
      <p:sp>
        <p:nvSpPr>
          <p:cNvPr id="77" name="Shape 30">
            <a:extLst>
              <a:ext uri="{FF2B5EF4-FFF2-40B4-BE49-F238E27FC236}">
                <a16:creationId xmlns:a16="http://schemas.microsoft.com/office/drawing/2014/main" id="{116A557E-2D1C-B202-320D-EB1C214D43B4}"/>
              </a:ext>
            </a:extLst>
          </p:cNvPr>
          <p:cNvSpPr/>
          <p:nvPr/>
        </p:nvSpPr>
        <p:spPr>
          <a:xfrm>
            <a:off x="11766471" y="5782151"/>
            <a:ext cx="5092661" cy="1888569"/>
          </a:xfrm>
          <a:prstGeom prst="rect">
            <a:avLst/>
          </a:prstGeom>
          <a:solidFill>
            <a:srgbClr val="FAFA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0" name="Shape 31">
            <a:extLst>
              <a:ext uri="{FF2B5EF4-FFF2-40B4-BE49-F238E27FC236}">
                <a16:creationId xmlns:a16="http://schemas.microsoft.com/office/drawing/2014/main" id="{D2CF6B3B-B8FA-8901-CFC6-0B8D6B93CB76}"/>
              </a:ext>
            </a:extLst>
          </p:cNvPr>
          <p:cNvSpPr/>
          <p:nvPr/>
        </p:nvSpPr>
        <p:spPr>
          <a:xfrm>
            <a:off x="11766471" y="5782151"/>
            <a:ext cx="5092661" cy="22860"/>
          </a:xfrm>
          <a:prstGeom prst="rect">
            <a:avLst/>
          </a:prstGeom>
          <a:solidFill>
            <a:srgbClr val="1B53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3" name="Text 32">
            <a:extLst>
              <a:ext uri="{FF2B5EF4-FFF2-40B4-BE49-F238E27FC236}">
                <a16:creationId xmlns:a16="http://schemas.microsoft.com/office/drawing/2014/main" id="{DA653BF7-E63F-2F29-FE14-666236BCCC71}"/>
              </a:ext>
            </a:extLst>
          </p:cNvPr>
          <p:cNvSpPr/>
          <p:nvPr/>
        </p:nvSpPr>
        <p:spPr>
          <a:xfrm>
            <a:off x="12033171" y="6071711"/>
            <a:ext cx="501518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kern="0" spc="207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</a:t>
            </a:r>
            <a:endParaRPr lang="en-US" sz="1725" dirty="0"/>
          </a:p>
        </p:txBody>
      </p:sp>
      <p:sp>
        <p:nvSpPr>
          <p:cNvPr id="85" name="Text 33">
            <a:extLst>
              <a:ext uri="{FF2B5EF4-FFF2-40B4-BE49-F238E27FC236}">
                <a16:creationId xmlns:a16="http://schemas.microsoft.com/office/drawing/2014/main" id="{D129E4C3-9617-4DAF-4FB2-2DE3CDE483A1}"/>
              </a:ext>
            </a:extLst>
          </p:cNvPr>
          <p:cNvSpPr/>
          <p:nvPr/>
        </p:nvSpPr>
        <p:spPr>
          <a:xfrm>
            <a:off x="12033171" y="6456521"/>
            <a:ext cx="50151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1B5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xUnit</a:t>
            </a:r>
            <a:endParaRPr lang="en-US" sz="1875" dirty="0"/>
          </a:p>
        </p:txBody>
      </p:sp>
      <p:sp>
        <p:nvSpPr>
          <p:cNvPr id="88" name="Text 34">
            <a:extLst>
              <a:ext uri="{FF2B5EF4-FFF2-40B4-BE49-F238E27FC236}">
                <a16:creationId xmlns:a16="http://schemas.microsoft.com/office/drawing/2014/main" id="{507C1482-5F57-3F8C-A513-011BBD1F7EC8}"/>
              </a:ext>
            </a:extLst>
          </p:cNvPr>
          <p:cNvSpPr/>
          <p:nvPr/>
        </p:nvSpPr>
        <p:spPr>
          <a:xfrm>
            <a:off x="12033171" y="6799421"/>
            <a:ext cx="5015186" cy="34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7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Arcabouço dos testes automatizados.</a:t>
            </a:r>
            <a:endParaRPr lang="en-US" sz="1725" dirty="0"/>
          </a:p>
        </p:txBody>
      </p:sp>
    </p:spTree>
    <p:extLst>
      <p:ext uri="{BB962C8B-B14F-4D97-AF65-F5344CB8AC3E}">
        <p14:creationId xmlns:p14="http://schemas.microsoft.com/office/powerpoint/2010/main" val="2096258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D5F373-B756-2494-F6C4-3170A969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155B2E-661A-3F6B-1E76-869174B9192B}"/>
              </a:ext>
            </a:extLst>
          </p:cNvPr>
          <p:cNvSpPr/>
          <p:nvPr/>
        </p:nvSpPr>
        <p:spPr>
          <a:xfrm>
            <a:off x="1047750" y="80010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E14509F-1D56-CFA9-6ECF-B7849C8E511C}"/>
              </a:ext>
            </a:extLst>
          </p:cNvPr>
          <p:cNvSpPr/>
          <p:nvPr/>
        </p:nvSpPr>
        <p:spPr>
          <a:xfrm>
            <a:off x="1473547" y="92868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41C4EFF-7514-5E77-481D-CFF1686B91B7}"/>
              </a:ext>
            </a:extLst>
          </p:cNvPr>
          <p:cNvSpPr/>
          <p:nvPr/>
        </p:nvSpPr>
        <p:spPr>
          <a:xfrm>
            <a:off x="2140297" y="800100"/>
            <a:ext cx="75570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E DEFINIÇÃO ARQUITETURAL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52E4D76-6E79-4D22-D51B-17B062E1DD52}"/>
              </a:ext>
            </a:extLst>
          </p:cNvPr>
          <p:cNvSpPr/>
          <p:nvPr/>
        </p:nvSpPr>
        <p:spPr>
          <a:xfrm>
            <a:off x="1047750" y="1238250"/>
            <a:ext cx="178117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kern="0" spc="-2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ARQUITETURAIS</a:t>
            </a:r>
            <a:endParaRPr lang="en-US" sz="4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3359316-94BC-E4F0-8BA4-DF04BC6455F5}"/>
              </a:ext>
            </a:extLst>
          </p:cNvPr>
          <p:cNvSpPr/>
          <p:nvPr/>
        </p:nvSpPr>
        <p:spPr>
          <a:xfrm>
            <a:off x="1047750" y="3200400"/>
            <a:ext cx="16192500" cy="190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0ADD753-520C-BCC9-4A7F-D451EDD8EC11}"/>
              </a:ext>
            </a:extLst>
          </p:cNvPr>
          <p:cNvSpPr/>
          <p:nvPr/>
        </p:nvSpPr>
        <p:spPr>
          <a:xfrm>
            <a:off x="1047750" y="3390900"/>
            <a:ext cx="43661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kern="0" spc="144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</a:t>
            </a:r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523E4E1-FBE4-C67D-88C8-09DB0EB85D7C}"/>
              </a:ext>
            </a:extLst>
          </p:cNvPr>
          <p:cNvSpPr/>
          <p:nvPr/>
        </p:nvSpPr>
        <p:spPr>
          <a:xfrm>
            <a:off x="5812334" y="3390900"/>
            <a:ext cx="64158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kern="0" spc="144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 ADOTADA</a:t>
            </a: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3FDED45-1028-0F01-7F06-2BEC018014A5}"/>
              </a:ext>
            </a:extLst>
          </p:cNvPr>
          <p:cNvSpPr/>
          <p:nvPr/>
        </p:nvSpPr>
        <p:spPr>
          <a:xfrm>
            <a:off x="12559159" y="3390900"/>
            <a:ext cx="48295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b="1" kern="0" spc="144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 PRETERIDA</a:t>
            </a:r>
            <a:endParaRPr lang="en-US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F241ECE-244A-6C68-1DC2-170727467904}"/>
              </a:ext>
            </a:extLst>
          </p:cNvPr>
          <p:cNvSpPr/>
          <p:nvPr/>
        </p:nvSpPr>
        <p:spPr>
          <a:xfrm>
            <a:off x="1047750" y="3829050"/>
            <a:ext cx="4497884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B407F2F-C00B-E313-7602-B4F412E84F4F}"/>
              </a:ext>
            </a:extLst>
          </p:cNvPr>
          <p:cNvSpPr/>
          <p:nvPr/>
        </p:nvSpPr>
        <p:spPr>
          <a:xfrm>
            <a:off x="1047750" y="4086225"/>
            <a:ext cx="43661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Separação de responsabilidades</a:t>
            </a:r>
            <a:endParaRPr lang="en-US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F73F2CB-9160-53EE-F2EE-C736556562E3}"/>
              </a:ext>
            </a:extLst>
          </p:cNvPr>
          <p:cNvSpPr/>
          <p:nvPr/>
        </p:nvSpPr>
        <p:spPr>
          <a:xfrm>
            <a:off x="5545634" y="3829050"/>
            <a:ext cx="6746825" cy="1152525"/>
          </a:xfrm>
          <a:prstGeom prst="rect">
            <a:avLst/>
          </a:prstGeom>
          <a:solidFill>
            <a:srgbClr val="FAFA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43BDD07-EE8C-6E86-373E-35C4B7FF4BF0}"/>
              </a:ext>
            </a:extLst>
          </p:cNvPr>
          <p:cNvSpPr/>
          <p:nvPr/>
        </p:nvSpPr>
        <p:spPr>
          <a:xfrm>
            <a:off x="5545634" y="3829050"/>
            <a:ext cx="6746825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E074E4B-4559-ADC9-3681-7F375AE2C8ED}"/>
              </a:ext>
            </a:extLst>
          </p:cNvPr>
          <p:cNvSpPr/>
          <p:nvPr/>
        </p:nvSpPr>
        <p:spPr>
          <a:xfrm>
            <a:off x="5812334" y="4086225"/>
            <a:ext cx="641583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 (determinístico) e redigir (linguagem natural) em estágios distintos</a:t>
            </a:r>
            <a:endParaRPr lang="en-US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6FF45C9-14CA-E8E1-B802-542EE7E48F8D}"/>
              </a:ext>
            </a:extLst>
          </p:cNvPr>
          <p:cNvSpPr/>
          <p:nvPr/>
        </p:nvSpPr>
        <p:spPr>
          <a:xfrm>
            <a:off x="12292459" y="3829050"/>
            <a:ext cx="4947791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90279DC-57DA-8264-A32B-C5C6242790F6}"/>
              </a:ext>
            </a:extLst>
          </p:cNvPr>
          <p:cNvSpPr/>
          <p:nvPr/>
        </p:nvSpPr>
        <p:spPr>
          <a:xfrm>
            <a:off x="12559159" y="4086225"/>
            <a:ext cx="482952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autônomo de ponta a ponta</a:t>
            </a:r>
            <a:endParaRPr lang="en-US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F4FBF87-0266-F66B-2118-43DDEAE4E30D}"/>
              </a:ext>
            </a:extLst>
          </p:cNvPr>
          <p:cNvSpPr/>
          <p:nvPr/>
        </p:nvSpPr>
        <p:spPr>
          <a:xfrm>
            <a:off x="1047750" y="4981575"/>
            <a:ext cx="4497884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15A0194-C6BF-4F22-8D70-1AC30470EBA5}"/>
              </a:ext>
            </a:extLst>
          </p:cNvPr>
          <p:cNvSpPr/>
          <p:nvPr/>
        </p:nvSpPr>
        <p:spPr>
          <a:xfrm>
            <a:off x="1047750" y="5238750"/>
            <a:ext cx="43661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da lógica de avaliação</a:t>
            </a:r>
            <a:endParaRPr lang="en-US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9957C94-0491-42B6-B6B6-B25007EFF48E}"/>
              </a:ext>
            </a:extLst>
          </p:cNvPr>
          <p:cNvSpPr/>
          <p:nvPr/>
        </p:nvSpPr>
        <p:spPr>
          <a:xfrm>
            <a:off x="5545634" y="4981575"/>
            <a:ext cx="6746825" cy="828675"/>
          </a:xfrm>
          <a:prstGeom prst="rect">
            <a:avLst/>
          </a:prstGeom>
          <a:solidFill>
            <a:srgbClr val="FAFA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EC2F61B-47EA-E232-5319-6C10E17BE4C1}"/>
              </a:ext>
            </a:extLst>
          </p:cNvPr>
          <p:cNvSpPr/>
          <p:nvPr/>
        </p:nvSpPr>
        <p:spPr>
          <a:xfrm>
            <a:off x="5545634" y="4981575"/>
            <a:ext cx="6746825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B410230-65A2-F3B7-9100-59AD5D560A63}"/>
              </a:ext>
            </a:extLst>
          </p:cNvPr>
          <p:cNvSpPr/>
          <p:nvPr/>
        </p:nvSpPr>
        <p:spPr>
          <a:xfrm>
            <a:off x="5812334" y="5238750"/>
            <a:ext cx="64158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 de domínio compartilhada</a:t>
            </a:r>
            <a:endParaRPr lang="en-US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E7ABA95-8596-EFF9-4A44-419C215F1778}"/>
              </a:ext>
            </a:extLst>
          </p:cNvPr>
          <p:cNvSpPr/>
          <p:nvPr/>
        </p:nvSpPr>
        <p:spPr>
          <a:xfrm>
            <a:off x="12292459" y="4981575"/>
            <a:ext cx="4947791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F7166E1-B030-CA94-1D51-E621C727DBA7}"/>
              </a:ext>
            </a:extLst>
          </p:cNvPr>
          <p:cNvSpPr/>
          <p:nvPr/>
        </p:nvSpPr>
        <p:spPr>
          <a:xfrm>
            <a:off x="12559159" y="5238750"/>
            <a:ext cx="48295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Reimplementação por consumidor</a:t>
            </a:r>
            <a:endParaRPr lang="en-US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6934B6B-01B5-3B89-9829-9FA83410C3C9}"/>
              </a:ext>
            </a:extLst>
          </p:cNvPr>
          <p:cNvSpPr/>
          <p:nvPr/>
        </p:nvSpPr>
        <p:spPr>
          <a:xfrm>
            <a:off x="1047750" y="5810250"/>
            <a:ext cx="4497884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036B258-9824-E0EB-B868-821D0CD46CA9}"/>
              </a:ext>
            </a:extLst>
          </p:cNvPr>
          <p:cNvSpPr/>
          <p:nvPr/>
        </p:nvSpPr>
        <p:spPr>
          <a:xfrm>
            <a:off x="1047750" y="6067425"/>
            <a:ext cx="43661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Topologia de mensageria</a:t>
            </a:r>
            <a:endParaRPr lang="en-US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26147FB-F66C-15B7-BCCD-022A3B44202C}"/>
              </a:ext>
            </a:extLst>
          </p:cNvPr>
          <p:cNvSpPr/>
          <p:nvPr/>
        </p:nvSpPr>
        <p:spPr>
          <a:xfrm>
            <a:off x="5545634" y="5810250"/>
            <a:ext cx="6746825" cy="1152525"/>
          </a:xfrm>
          <a:prstGeom prst="rect">
            <a:avLst/>
          </a:prstGeom>
          <a:solidFill>
            <a:srgbClr val="FAFAF9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9BF3B05-D806-8FC7-5CFB-A4C19018FD0F}"/>
              </a:ext>
            </a:extLst>
          </p:cNvPr>
          <p:cNvSpPr/>
          <p:nvPr/>
        </p:nvSpPr>
        <p:spPr>
          <a:xfrm>
            <a:off x="5545634" y="5810250"/>
            <a:ext cx="6746825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4089910-9188-9302-8A25-E0D7286139D9}"/>
              </a:ext>
            </a:extLst>
          </p:cNvPr>
          <p:cNvSpPr/>
          <p:nvPr/>
        </p:nvSpPr>
        <p:spPr>
          <a:xfrm>
            <a:off x="5812334" y="6067426"/>
            <a:ext cx="6049108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Difusão (fan-out) e </a:t>
            </a:r>
            <a:r>
              <a:rPr lang="en-US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Consolidação</a:t>
            </a: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(fan-in) </a:t>
            </a:r>
            <a:r>
              <a:rPr lang="en-US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</a:t>
            </a: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recomendador</a:t>
            </a:r>
            <a:endParaRPr lang="en-US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67033E17-EEB2-C1B5-9F0F-FF4C9D3BEC1C}"/>
              </a:ext>
            </a:extLst>
          </p:cNvPr>
          <p:cNvSpPr/>
          <p:nvPr/>
        </p:nvSpPr>
        <p:spPr>
          <a:xfrm>
            <a:off x="12292459" y="5810250"/>
            <a:ext cx="4947791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A60C828-2165-C03C-57A1-F1AB271D1C73}"/>
              </a:ext>
            </a:extLst>
          </p:cNvPr>
          <p:cNvSpPr/>
          <p:nvPr/>
        </p:nvSpPr>
        <p:spPr>
          <a:xfrm>
            <a:off x="12559159" y="6067425"/>
            <a:ext cx="4829525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competitiva única</a:t>
            </a:r>
            <a:endParaRPr lang="en-US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D0F2CA17-B898-1E15-B6EF-6F01D533C481}"/>
              </a:ext>
            </a:extLst>
          </p:cNvPr>
          <p:cNvSpPr/>
          <p:nvPr/>
        </p:nvSpPr>
        <p:spPr>
          <a:xfrm>
            <a:off x="1047750" y="7791450"/>
            <a:ext cx="4497884" cy="190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90269D12-A1B3-2417-8DB7-0591AC9E82A5}"/>
              </a:ext>
            </a:extLst>
          </p:cNvPr>
          <p:cNvSpPr/>
          <p:nvPr/>
        </p:nvSpPr>
        <p:spPr>
          <a:xfrm>
            <a:off x="1047750" y="6962775"/>
            <a:ext cx="4497884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4533A01-EF60-DFF1-5CDA-3AB569E77548}"/>
              </a:ext>
            </a:extLst>
          </p:cNvPr>
          <p:cNvSpPr/>
          <p:nvPr/>
        </p:nvSpPr>
        <p:spPr>
          <a:xfrm>
            <a:off x="1047750" y="7219950"/>
            <a:ext cx="43661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Decomposição dos agentes</a:t>
            </a:r>
            <a:endParaRPr lang="en-US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ACA1F3E5-4DDD-980E-3ECE-FFB2C2D6EB9D}"/>
              </a:ext>
            </a:extLst>
          </p:cNvPr>
          <p:cNvSpPr/>
          <p:nvPr/>
        </p:nvSpPr>
        <p:spPr>
          <a:xfrm>
            <a:off x="5545634" y="6972300"/>
            <a:ext cx="6746825" cy="847725"/>
          </a:xfrm>
          <a:prstGeom prst="rect">
            <a:avLst/>
          </a:prstGeom>
          <a:solidFill>
            <a:srgbClr val="FAFA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61E7DED9-1752-876D-D3F6-F600D794D6DD}"/>
              </a:ext>
            </a:extLst>
          </p:cNvPr>
          <p:cNvSpPr/>
          <p:nvPr/>
        </p:nvSpPr>
        <p:spPr>
          <a:xfrm>
            <a:off x="5545634" y="7791450"/>
            <a:ext cx="6746825" cy="190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9E2C48D1-C81B-6B60-5913-B4E5965AA2BD}"/>
              </a:ext>
            </a:extLst>
          </p:cNvPr>
          <p:cNvSpPr/>
          <p:nvPr/>
        </p:nvSpPr>
        <p:spPr>
          <a:xfrm>
            <a:off x="5545634" y="6962775"/>
            <a:ext cx="6746825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4D7123B3-C6C3-6646-DE4B-15922C96819A}"/>
              </a:ext>
            </a:extLst>
          </p:cNvPr>
          <p:cNvSpPr/>
          <p:nvPr/>
        </p:nvSpPr>
        <p:spPr>
          <a:xfrm>
            <a:off x="5812334" y="7219950"/>
            <a:ext cx="64158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interesse agronômico</a:t>
            </a:r>
            <a:endParaRPr lang="en-US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E32A1B90-E0A3-FCD5-D0F2-C43724154AC6}"/>
              </a:ext>
            </a:extLst>
          </p:cNvPr>
          <p:cNvSpPr/>
          <p:nvPr/>
        </p:nvSpPr>
        <p:spPr>
          <a:xfrm>
            <a:off x="12292459" y="7791450"/>
            <a:ext cx="4947791" cy="190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EA8B6C2C-E2AC-354C-77E9-4B9627BCE49E}"/>
              </a:ext>
            </a:extLst>
          </p:cNvPr>
          <p:cNvSpPr/>
          <p:nvPr/>
        </p:nvSpPr>
        <p:spPr>
          <a:xfrm>
            <a:off x="12292459" y="6962775"/>
            <a:ext cx="4947791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41DFDEB0-9389-4186-FBCE-03180B4E8E79}"/>
              </a:ext>
            </a:extLst>
          </p:cNvPr>
          <p:cNvSpPr/>
          <p:nvPr/>
        </p:nvSpPr>
        <p:spPr>
          <a:xfrm>
            <a:off x="12559159" y="7219950"/>
            <a:ext cx="48295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sensor; por papel hierárquico</a:t>
            </a:r>
            <a:endParaRPr lang="en-US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B99EA2C0-50DD-3F0A-F6D1-07973DAF89A0}"/>
              </a:ext>
            </a:extLst>
          </p:cNvPr>
          <p:cNvSpPr/>
          <p:nvPr/>
        </p:nvSpPr>
        <p:spPr>
          <a:xfrm>
            <a:off x="1047750" y="9334500"/>
            <a:ext cx="91540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1905DBE3-2998-8C83-631D-41852A8E6B8B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47" name="Image 0" descr="preencoded.png">
            <a:extLst>
              <a:ext uri="{FF2B5EF4-FFF2-40B4-BE49-F238E27FC236}">
                <a16:creationId xmlns:a16="http://schemas.microsoft.com/office/drawing/2014/main" id="{1F5DAB0B-6A0F-4C15-8E92-AD0144873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49" name="Text 20">
            <a:extLst>
              <a:ext uri="{FF2B5EF4-FFF2-40B4-BE49-F238E27FC236}">
                <a16:creationId xmlns:a16="http://schemas.microsoft.com/office/drawing/2014/main" id="{8540C139-C8E3-4DAC-BBCF-677124044C87}"/>
              </a:ext>
            </a:extLst>
          </p:cNvPr>
          <p:cNvSpPr/>
          <p:nvPr/>
        </p:nvSpPr>
        <p:spPr>
          <a:xfrm>
            <a:off x="1231722" y="9265024"/>
            <a:ext cx="139484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2 — SÍNTESE DAS PRINCIPAIS DECISÕES ARQUITETURAIS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654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6AAFFB-1FC0-7097-1870-146678E0A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1B16F0D-3E0F-E5A7-B831-5CFACC3F4574}"/>
              </a:ext>
            </a:extLst>
          </p:cNvPr>
          <p:cNvSpPr/>
          <p:nvPr/>
        </p:nvSpPr>
        <p:spPr>
          <a:xfrm>
            <a:off x="1047750" y="80010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65922A5-FB94-DB8F-9C1A-D9F406D6AA87}"/>
              </a:ext>
            </a:extLst>
          </p:cNvPr>
          <p:cNvSpPr/>
          <p:nvPr/>
        </p:nvSpPr>
        <p:spPr>
          <a:xfrm>
            <a:off x="1473547" y="92868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607EDDE-448E-252F-95AE-E957477A2CCB}"/>
              </a:ext>
            </a:extLst>
          </p:cNvPr>
          <p:cNvSpPr/>
          <p:nvPr/>
        </p:nvSpPr>
        <p:spPr>
          <a:xfrm>
            <a:off x="2140297" y="800100"/>
            <a:ext cx="75570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 E DEFINIÇÃO ARQUITETURAL</a:t>
            </a:r>
            <a:endParaRPr lang="en-US" sz="18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A25E8305-F735-9F1C-B4CB-2580D5BD0FB8}"/>
              </a:ext>
            </a:extLst>
          </p:cNvPr>
          <p:cNvSpPr/>
          <p:nvPr/>
        </p:nvSpPr>
        <p:spPr>
          <a:xfrm>
            <a:off x="1047750" y="9334500"/>
            <a:ext cx="150971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pic>
        <p:nvPicPr>
          <p:cNvPr id="44" name="Imagem 43">
            <a:extLst>
              <a:ext uri="{FF2B5EF4-FFF2-40B4-BE49-F238E27FC236}">
                <a16:creationId xmlns:a16="http://schemas.microsoft.com/office/drawing/2014/main" id="{C6B71011-4D9E-3DD8-C148-9E73F5419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871" y="1435474"/>
            <a:ext cx="8828655" cy="7200000"/>
          </a:xfrm>
          <a:prstGeom prst="rect">
            <a:avLst/>
          </a:prstGeom>
        </p:spPr>
      </p:pic>
      <p:sp>
        <p:nvSpPr>
          <p:cNvPr id="52" name="Shape 20">
            <a:extLst>
              <a:ext uri="{FF2B5EF4-FFF2-40B4-BE49-F238E27FC236}">
                <a16:creationId xmlns:a16="http://schemas.microsoft.com/office/drawing/2014/main" id="{0872FC0A-8460-14C4-FEF7-7DAA1BE37126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4" name="Image 0" descr="preencoded.png">
            <a:extLst>
              <a:ext uri="{FF2B5EF4-FFF2-40B4-BE49-F238E27FC236}">
                <a16:creationId xmlns:a16="http://schemas.microsoft.com/office/drawing/2014/main" id="{6638D2BD-6C43-1587-1493-559105328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56" name="Text 20">
            <a:extLst>
              <a:ext uri="{FF2B5EF4-FFF2-40B4-BE49-F238E27FC236}">
                <a16:creationId xmlns:a16="http://schemas.microsoft.com/office/drawing/2014/main" id="{BF032FD1-C1D7-B9A4-402B-FA0D75FDD00C}"/>
              </a:ext>
            </a:extLst>
          </p:cNvPr>
          <p:cNvSpPr/>
          <p:nvPr/>
        </p:nvSpPr>
        <p:spPr>
          <a:xfrm>
            <a:off x="1231722" y="9265024"/>
            <a:ext cx="139484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pt-BR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3 — ARQUITETURA-ALVO DA CAMADA DE MONITORAMENTO PROATIVO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056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3767138"/>
            <a:ext cx="3244914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2500" b="1" kern="0" spc="-900" dirty="0">
                <a:solidFill>
                  <a:srgbClr val="E6E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4797772" y="4305449"/>
            <a:ext cx="67910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97772" y="4781699"/>
            <a:ext cx="6791057" cy="77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5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330797" y="857250"/>
            <a:ext cx="28148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8250" y="1314450"/>
            <a:ext cx="173926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2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CAMADA PROATIVA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38250" y="4282529"/>
            <a:ext cx="8382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 COMPARTILHADA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8250" y="4739729"/>
            <a:ext cx="784860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lógica de classificação foi extraída para uma </a:t>
            </a:r>
            <a:r>
              <a:rPr lang="en-US" sz="21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 de domínio </a:t>
            </a:r>
            <a:r>
              <a:rPr lang="en-US" sz="21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fonte única de verdade consumida pelo fluxo reativo e pelo proativo.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38250" y="6128296"/>
            <a:ext cx="78486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Refatoração comportamentalmente neutra, confirmada por testes de regressão.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9429750" y="4282529"/>
            <a:ext cx="83820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BARRAMENTO DE EVENTOS · RABBITMQ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29750" y="4739729"/>
            <a:ext cx="784860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consolidar a telemetria, o DataWorker publica um </a:t>
            </a:r>
            <a:r>
              <a:rPr lang="en-US" sz="2100" b="1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 enxuto </a:t>
            </a:r>
            <a:r>
              <a:rPr lang="en-US" sz="21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plantio ativo — apenas a identificação mínima da ocorrência.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429750" y="6128296"/>
            <a:ext cx="78486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75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Condicionado a um sinalizador de configuração → habilitação e reversão seguras.</a:t>
            </a:r>
            <a:endParaRPr lang="en-US" sz="1875" dirty="0"/>
          </a:p>
        </p:txBody>
      </p:sp>
      <p:sp>
        <p:nvSpPr>
          <p:cNvPr id="15" name="Shape 20">
            <a:extLst>
              <a:ext uri="{FF2B5EF4-FFF2-40B4-BE49-F238E27FC236}">
                <a16:creationId xmlns:a16="http://schemas.microsoft.com/office/drawing/2014/main" id="{463FBF5A-C7CC-EB1F-8595-F2A570F529A6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9AFE4383-1715-554A-A31E-7F46AA85D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473547" y="92868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140297" y="800100"/>
            <a:ext cx="28148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238250"/>
            <a:ext cx="178117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pt-BR" sz="4200" b="1" kern="0" spc="-2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AGENTES POR INTERESSE AGRONÔMICO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047750" y="3371850"/>
            <a:ext cx="16192500" cy="190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47750" y="3543300"/>
            <a:ext cx="26900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10038" y="3543300"/>
            <a:ext cx="412932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OBSERVADOS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62975" y="3543300"/>
            <a:ext cx="53801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QUE RESPONDE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230350" y="3543300"/>
            <a:ext cx="310705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08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ACIONA EM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047750" y="3962400"/>
            <a:ext cx="2833688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047750" y="4181475"/>
            <a:ext cx="26900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Hídrico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881438" y="3962400"/>
            <a:ext cx="4452938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110038" y="4181475"/>
            <a:ext cx="41293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Umidade do solo (+ ar)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334375" y="3962400"/>
            <a:ext cx="5667375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562975" y="4181475"/>
            <a:ext cx="538019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planta tem água suficiente?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4001750" y="3962400"/>
            <a:ext cx="3238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4230350" y="4181475"/>
            <a:ext cx="31070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/ risco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047750" y="4686300"/>
            <a:ext cx="2833688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047750" y="4905375"/>
            <a:ext cx="26900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Térmico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881438" y="4686300"/>
            <a:ext cx="4452938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110038" y="4905375"/>
            <a:ext cx="41293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 do ar e do solo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8334375" y="4686300"/>
            <a:ext cx="5667375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8562975" y="4905375"/>
            <a:ext cx="538019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estresse térmico?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14001750" y="4686300"/>
            <a:ext cx="3238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4230350" y="4905375"/>
            <a:ext cx="31070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/ risco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1047750" y="5410200"/>
            <a:ext cx="2833688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047750" y="5629275"/>
            <a:ext cx="26900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Atmosfera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881438" y="5410200"/>
            <a:ext cx="4452938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110038" y="5629275"/>
            <a:ext cx="41293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e umidade do ar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8334375" y="5410200"/>
            <a:ext cx="5667375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8562975" y="5629275"/>
            <a:ext cx="538019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ar está saudável e ventilado?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14001750" y="5410200"/>
            <a:ext cx="3238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14230350" y="5629275"/>
            <a:ext cx="31070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/ risco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1047750" y="6134100"/>
            <a:ext cx="2833688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1047750" y="6353175"/>
            <a:ext cx="26900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Luz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3881438" y="6134100"/>
            <a:ext cx="4452938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110038" y="6353175"/>
            <a:ext cx="41293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Intensidade UV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8334375" y="6134100"/>
            <a:ext cx="5667375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8562975" y="6353175"/>
            <a:ext cx="538019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luminosidade é adequada ao ciclo?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14001750" y="6134100"/>
            <a:ext cx="3238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14230350" y="6353175"/>
            <a:ext cx="31070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/ risco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1047750" y="7581900"/>
            <a:ext cx="2833688" cy="190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1047750" y="6858000"/>
            <a:ext cx="2833688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1047750" y="7077075"/>
            <a:ext cx="269009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Integridade</a:t>
            </a: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3881438" y="7581900"/>
            <a:ext cx="4452938" cy="190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3881438" y="6858000"/>
            <a:ext cx="4452938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4110038" y="7077075"/>
            <a:ext cx="412932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sensores</a:t>
            </a: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8334375" y="7581900"/>
            <a:ext cx="5667375" cy="190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8334375" y="6858000"/>
            <a:ext cx="5667375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8562975" y="7077075"/>
            <a:ext cx="538019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dados são confiáveis?</a:t>
            </a: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14001750" y="7581900"/>
            <a:ext cx="3238500" cy="190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14001750" y="6858000"/>
            <a:ext cx="3238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14230350" y="7077075"/>
            <a:ext cx="31070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suspeito</a:t>
            </a:r>
            <a:endParaRPr lang="en-US" dirty="0"/>
          </a:p>
        </p:txBody>
      </p:sp>
      <p:sp>
        <p:nvSpPr>
          <p:cNvPr id="65" name="Shape 20">
            <a:extLst>
              <a:ext uri="{FF2B5EF4-FFF2-40B4-BE49-F238E27FC236}">
                <a16:creationId xmlns:a16="http://schemas.microsoft.com/office/drawing/2014/main" id="{9699E65F-2C3F-C152-9509-CECF0480A977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67" name="Image 0" descr="preencoded.png">
            <a:extLst>
              <a:ext uri="{FF2B5EF4-FFF2-40B4-BE49-F238E27FC236}">
                <a16:creationId xmlns:a16="http://schemas.microsoft.com/office/drawing/2014/main" id="{558C981F-AC6E-28C4-7835-84644C7C3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AEF598D6-B30C-BCCA-C848-D7314A52F6F9}"/>
              </a:ext>
            </a:extLst>
          </p:cNvPr>
          <p:cNvSpPr/>
          <p:nvPr/>
        </p:nvSpPr>
        <p:spPr>
          <a:xfrm>
            <a:off x="1231722" y="9265024"/>
            <a:ext cx="139484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pt-BR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3 – AGENTES, SENSORES OBSERVADOS E FINALIDADE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83D93-9127-E32C-71C0-686D88B50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99C762C-AC9C-8849-BAD2-DA425F440FB7}"/>
              </a:ext>
            </a:extLst>
          </p:cNvPr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76B0D22-453C-1965-399C-819ED705385B}"/>
              </a:ext>
            </a:extLst>
          </p:cNvPr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625A52C-59E6-8CB0-72B1-AD3DD2427AFF}"/>
              </a:ext>
            </a:extLst>
          </p:cNvPr>
          <p:cNvSpPr/>
          <p:nvPr/>
        </p:nvSpPr>
        <p:spPr>
          <a:xfrm>
            <a:off x="2330797" y="857250"/>
            <a:ext cx="28148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8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A6BE771A-FDD2-8C0A-6DD8-1FB381EBAAC4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27028928-09A9-761C-AFAD-C53B4C240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22" name="Text 20">
            <a:extLst>
              <a:ext uri="{FF2B5EF4-FFF2-40B4-BE49-F238E27FC236}">
                <a16:creationId xmlns:a16="http://schemas.microsoft.com/office/drawing/2014/main" id="{36F9116F-D205-E62B-62F1-9616CE91E1E5}"/>
              </a:ext>
            </a:extLst>
          </p:cNvPr>
          <p:cNvSpPr/>
          <p:nvPr/>
        </p:nvSpPr>
        <p:spPr>
          <a:xfrm>
            <a:off x="1231722" y="9265024"/>
            <a:ext cx="139484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pt-BR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4 — SEQUÊNCIA DE EVENTOS DA DETECÇÃO DE UMA ANOMALIA À RECOMENDAÇÃO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2A5D60E-77D4-2C75-D156-890E76CE4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1167" y="1492624"/>
            <a:ext cx="14205665" cy="7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023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330797" y="857250"/>
            <a:ext cx="28148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8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D8580BBD-E99C-F2CB-2BB2-F8C2AD52AE8C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7408ED46-ADE4-8689-0D1B-126D3D22C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24" name="Text 20">
            <a:extLst>
              <a:ext uri="{FF2B5EF4-FFF2-40B4-BE49-F238E27FC236}">
                <a16:creationId xmlns:a16="http://schemas.microsoft.com/office/drawing/2014/main" id="{E899FA1A-68CA-A7ED-8261-3A43FAFE8830}"/>
              </a:ext>
            </a:extLst>
          </p:cNvPr>
          <p:cNvSpPr/>
          <p:nvPr/>
        </p:nvSpPr>
        <p:spPr>
          <a:xfrm>
            <a:off x="1231722" y="9265024"/>
            <a:ext cx="139484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pt-BR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5 — CICLO DE VIDA DA RECOMENDAÇÃO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EB9F9823-0F5A-0FC7-C374-91C53A9B8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7513" y="1492624"/>
            <a:ext cx="10979523" cy="720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96D264-1491-ED27-0150-A8A17DC8E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3990E1-7E7A-1453-A32E-193CB15D6842}"/>
              </a:ext>
            </a:extLst>
          </p:cNvPr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AB61B99-547B-51AD-D8B5-B1124832CD6C}"/>
              </a:ext>
            </a:extLst>
          </p:cNvPr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44D143C-2C2E-1A0B-8E46-DE0B6C025F99}"/>
              </a:ext>
            </a:extLst>
          </p:cNvPr>
          <p:cNvSpPr/>
          <p:nvPr/>
        </p:nvSpPr>
        <p:spPr>
          <a:xfrm>
            <a:off x="2330797" y="857250"/>
            <a:ext cx="28148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8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4DCDB7AC-10D1-7407-8057-D3ACA485BB06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D22DBADF-387B-F76B-0189-004A148B2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24" name="Text 20">
            <a:extLst>
              <a:ext uri="{FF2B5EF4-FFF2-40B4-BE49-F238E27FC236}">
                <a16:creationId xmlns:a16="http://schemas.microsoft.com/office/drawing/2014/main" id="{7828D316-4B55-73B2-84FE-5C50184C8E57}"/>
              </a:ext>
            </a:extLst>
          </p:cNvPr>
          <p:cNvSpPr/>
          <p:nvPr/>
        </p:nvSpPr>
        <p:spPr>
          <a:xfrm>
            <a:off x="1231722" y="9265024"/>
            <a:ext cx="139484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pt-BR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6 — MODELO DE DADOS DO ESQUEMA DE RECOMENDAÇÕES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F282463-D46E-52CC-68BA-D5E1A8229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920" y="1492624"/>
            <a:ext cx="10086160" cy="7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8386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D06387-4F3E-7B29-4820-37D30667C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7DCCBB3-11A4-F913-41A7-7C79F624BFD3}"/>
              </a:ext>
            </a:extLst>
          </p:cNvPr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DE02F9D-45C4-DF95-BBE0-E5C9979173E4}"/>
              </a:ext>
            </a:extLst>
          </p:cNvPr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C5B89CC-E0D5-524D-5FA3-28945172E083}"/>
              </a:ext>
            </a:extLst>
          </p:cNvPr>
          <p:cNvSpPr/>
          <p:nvPr/>
        </p:nvSpPr>
        <p:spPr>
          <a:xfrm>
            <a:off x="2330797" y="857250"/>
            <a:ext cx="28148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8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E2832518-240F-1811-753A-E486AD61A6B5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4207A216-1C7B-CBE4-8A0F-005E51B0B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24" name="Text 20">
            <a:extLst>
              <a:ext uri="{FF2B5EF4-FFF2-40B4-BE49-F238E27FC236}">
                <a16:creationId xmlns:a16="http://schemas.microsoft.com/office/drawing/2014/main" id="{9A1FB9A4-7EBE-F1AE-8AC9-11CACFF816B3}"/>
              </a:ext>
            </a:extLst>
          </p:cNvPr>
          <p:cNvSpPr/>
          <p:nvPr/>
        </p:nvSpPr>
        <p:spPr>
          <a:xfrm>
            <a:off x="1231722" y="9265024"/>
            <a:ext cx="139484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pt-BR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7 – PÁGINA INICIAL EXIBINDO O INDICADOR DE RECOMENDAÇÕES PENDENTES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59F07E3-440D-B7AF-2A11-11FEBFB3C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999" y="1394351"/>
            <a:ext cx="12800002" cy="72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2703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80D1E6-6A91-5761-4BA2-EEE83C53F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9867B4-BC13-5BF8-6200-124F5B3F524D}"/>
              </a:ext>
            </a:extLst>
          </p:cNvPr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E08DB03-D7A4-AA16-D3C1-8D9CD9E20C9E}"/>
              </a:ext>
            </a:extLst>
          </p:cNvPr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A0ECE1-94CB-E28E-5497-B200642B85AF}"/>
              </a:ext>
            </a:extLst>
          </p:cNvPr>
          <p:cNvSpPr/>
          <p:nvPr/>
        </p:nvSpPr>
        <p:spPr>
          <a:xfrm>
            <a:off x="2330797" y="857250"/>
            <a:ext cx="28148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8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0489022A-CC6A-2786-37B0-2FBFC1ADB1FB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3E0DC0D3-B4CB-DD40-96A8-5A5E794D3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24" name="Text 20">
            <a:extLst>
              <a:ext uri="{FF2B5EF4-FFF2-40B4-BE49-F238E27FC236}">
                <a16:creationId xmlns:a16="http://schemas.microsoft.com/office/drawing/2014/main" id="{40C5B797-EB57-1B99-D74B-9A0AFD04E9E7}"/>
              </a:ext>
            </a:extLst>
          </p:cNvPr>
          <p:cNvSpPr/>
          <p:nvPr/>
        </p:nvSpPr>
        <p:spPr>
          <a:xfrm>
            <a:off x="1231722" y="9265024"/>
            <a:ext cx="139484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pt-BR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8 – PÁGINA DE GRÁFICOS COM O PAINEL DE RECOMENDAÇÕES DO PLANTIO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9C7C564-FD4B-81A1-B436-825D85593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4000" y="1394351"/>
            <a:ext cx="12800000" cy="72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807788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F6A2C6-C1C9-A77A-DA1D-530219BC2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1995F8-16A8-8A42-3131-8A7E1713AEC7}"/>
              </a:ext>
            </a:extLst>
          </p:cNvPr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5B416EF-0D50-65A6-FB2B-B424A93EA039}"/>
              </a:ext>
            </a:extLst>
          </p:cNvPr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CEE896D-7898-FEA2-5C70-5CA455B9172B}"/>
              </a:ext>
            </a:extLst>
          </p:cNvPr>
          <p:cNvSpPr/>
          <p:nvPr/>
        </p:nvSpPr>
        <p:spPr>
          <a:xfrm>
            <a:off x="2330797" y="857250"/>
            <a:ext cx="28148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F187BE-C609-DB8B-B197-EDE6ED261222}"/>
              </a:ext>
            </a:extLst>
          </p:cNvPr>
          <p:cNvSpPr/>
          <p:nvPr/>
        </p:nvSpPr>
        <p:spPr>
          <a:xfrm>
            <a:off x="1238250" y="1314450"/>
            <a:ext cx="173926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2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DOS TESTES AUTOMATIZADOS</a:t>
            </a: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17439EE9-9464-E736-39BD-969A7CE6FF4B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E0F3B86B-9484-B56F-54B9-8EE69A752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21" name="Text 20">
            <a:extLst>
              <a:ext uri="{FF2B5EF4-FFF2-40B4-BE49-F238E27FC236}">
                <a16:creationId xmlns:a16="http://schemas.microsoft.com/office/drawing/2014/main" id="{40A1AEF7-3783-7045-252E-C48F7FD69123}"/>
              </a:ext>
            </a:extLst>
          </p:cNvPr>
          <p:cNvSpPr/>
          <p:nvPr/>
        </p:nvSpPr>
        <p:spPr>
          <a:xfrm>
            <a:off x="1231722" y="9265024"/>
            <a:ext cx="139484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pt-BR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4 – COBERTURA DOS TESTES AUTOMATIZADOS</a:t>
            </a:r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445D71BF-13FA-52FD-6A2C-198B7531962B}"/>
              </a:ext>
            </a:extLst>
          </p:cNvPr>
          <p:cNvSpPr/>
          <p:nvPr/>
        </p:nvSpPr>
        <p:spPr>
          <a:xfrm>
            <a:off x="1047750" y="3075972"/>
            <a:ext cx="16192500" cy="15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EF47BC5E-EF25-A02D-FEBB-0112567FF967}"/>
              </a:ext>
            </a:extLst>
          </p:cNvPr>
          <p:cNvSpPr/>
          <p:nvPr/>
        </p:nvSpPr>
        <p:spPr>
          <a:xfrm>
            <a:off x="1047750" y="3243612"/>
            <a:ext cx="4536604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kern="0" spc="103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SOB TESTE</a:t>
            </a:r>
            <a:endParaRPr lang="en-US" sz="1725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877A5335-3D2A-DE29-16F1-1E6C3D12315C}"/>
              </a:ext>
            </a:extLst>
          </p:cNvPr>
          <p:cNvSpPr/>
          <p:nvPr/>
        </p:nvSpPr>
        <p:spPr>
          <a:xfrm>
            <a:off x="5864662" y="3243612"/>
            <a:ext cx="109097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25" b="1" kern="0" spc="103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</a:t>
            </a:r>
            <a:endParaRPr lang="en-US" sz="1725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6F5B42C2-AFD7-E6B3-DE69-040C99CFFD9C}"/>
              </a:ext>
            </a:extLst>
          </p:cNvPr>
          <p:cNvSpPr/>
          <p:nvPr/>
        </p:nvSpPr>
        <p:spPr>
          <a:xfrm>
            <a:off x="7374731" y="3243612"/>
            <a:ext cx="1016834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725" b="1" kern="0" spc="103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ASPECTOS VERIFICADOS</a:t>
            </a:r>
            <a:endParaRPr lang="en-US" sz="1725" dirty="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4C9F3656-2C7A-E29A-195B-FAC1FB0A768A}"/>
              </a:ext>
            </a:extLst>
          </p:cNvPr>
          <p:cNvSpPr/>
          <p:nvPr/>
        </p:nvSpPr>
        <p:spPr>
          <a:xfrm>
            <a:off x="1047750" y="3647472"/>
            <a:ext cx="4626412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23F15297-DC2A-B7DB-4589-97C31914CDFE}"/>
              </a:ext>
            </a:extLst>
          </p:cNvPr>
          <p:cNvSpPr/>
          <p:nvPr/>
        </p:nvSpPr>
        <p:spPr>
          <a:xfrm>
            <a:off x="1047750" y="3845592"/>
            <a:ext cx="4536604" cy="633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 de avaliação</a:t>
            </a:r>
            <a:endParaRPr lang="en-US" sz="1950" dirty="0"/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33314BEB-C9C9-95F1-0DEB-3F0D678B3BA4}"/>
              </a:ext>
            </a:extLst>
          </p:cNvPr>
          <p:cNvSpPr/>
          <p:nvPr/>
        </p:nvSpPr>
        <p:spPr>
          <a:xfrm>
            <a:off x="5674162" y="3647472"/>
            <a:ext cx="147197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9C967A05-4F43-09AA-833C-0756C2F7311A}"/>
              </a:ext>
            </a:extLst>
          </p:cNvPr>
          <p:cNvSpPr/>
          <p:nvPr/>
        </p:nvSpPr>
        <p:spPr>
          <a:xfrm>
            <a:off x="5864662" y="3845592"/>
            <a:ext cx="1090970" cy="633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42BE4CF3-B482-984A-BE20-345D121512C1}"/>
              </a:ext>
            </a:extLst>
          </p:cNvPr>
          <p:cNvSpPr/>
          <p:nvPr/>
        </p:nvSpPr>
        <p:spPr>
          <a:xfrm>
            <a:off x="7146131" y="3647472"/>
            <a:ext cx="10094119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DFF05C8A-2682-98AD-D594-CF8F27928C36}"/>
              </a:ext>
            </a:extLst>
          </p:cNvPr>
          <p:cNvSpPr/>
          <p:nvPr/>
        </p:nvSpPr>
        <p:spPr>
          <a:xfrm>
            <a:off x="7374731" y="3845592"/>
            <a:ext cx="10168342" cy="6338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7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Janela vazia; classificação normal, atenção, risco e suspeito (limiares); tendências crescente, decrescente e estável</a:t>
            </a:r>
            <a:endParaRPr lang="en-US" sz="1725" dirty="0"/>
          </a:p>
        </p:txBody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A1886F70-8310-4842-F824-284F6B06F86A}"/>
              </a:ext>
            </a:extLst>
          </p:cNvPr>
          <p:cNvSpPr/>
          <p:nvPr/>
        </p:nvSpPr>
        <p:spPr>
          <a:xfrm>
            <a:off x="1047750" y="4631881"/>
            <a:ext cx="4626412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0319FFF8-717E-7580-B573-68782B9A3013}"/>
              </a:ext>
            </a:extLst>
          </p:cNvPr>
          <p:cNvSpPr/>
          <p:nvPr/>
        </p:nvSpPr>
        <p:spPr>
          <a:xfrm>
            <a:off x="1047750" y="4830001"/>
            <a:ext cx="4536604" cy="93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de recomendação</a:t>
            </a:r>
            <a:endParaRPr lang="en-US" sz="195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E4011A49-11DE-13EC-EEF4-F520295181CB}"/>
              </a:ext>
            </a:extLst>
          </p:cNvPr>
          <p:cNvSpPr/>
          <p:nvPr/>
        </p:nvSpPr>
        <p:spPr>
          <a:xfrm>
            <a:off x="5674162" y="4631881"/>
            <a:ext cx="147197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76FE2EDC-593B-2307-2C7D-9928C1C56C92}"/>
              </a:ext>
            </a:extLst>
          </p:cNvPr>
          <p:cNvSpPr/>
          <p:nvPr/>
        </p:nvSpPr>
        <p:spPr>
          <a:xfrm>
            <a:off x="5864662" y="4830001"/>
            <a:ext cx="1090970" cy="93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50" dirty="0"/>
          </a:p>
        </p:txBody>
      </p:sp>
      <p:sp>
        <p:nvSpPr>
          <p:cNvPr id="53" name="Shape 18">
            <a:extLst>
              <a:ext uri="{FF2B5EF4-FFF2-40B4-BE49-F238E27FC236}">
                <a16:creationId xmlns:a16="http://schemas.microsoft.com/office/drawing/2014/main" id="{C8EDB308-E792-1D58-9822-6A25E04105D4}"/>
              </a:ext>
            </a:extLst>
          </p:cNvPr>
          <p:cNvSpPr/>
          <p:nvPr/>
        </p:nvSpPr>
        <p:spPr>
          <a:xfrm>
            <a:off x="7146131" y="4631881"/>
            <a:ext cx="10094119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332F96EA-B841-A942-D47D-C3037C9DE14A}"/>
              </a:ext>
            </a:extLst>
          </p:cNvPr>
          <p:cNvSpPr/>
          <p:nvPr/>
        </p:nvSpPr>
        <p:spPr>
          <a:xfrm>
            <a:off x="7374731" y="4830001"/>
            <a:ext cx="10168342" cy="931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7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Persistência em condição nova; supressão na carência; reemissão por expiração e por mudança de assinatura; texto determinístico sem modelo; máx. uma chamada por plantio; ressalva por integridade</a:t>
            </a:r>
            <a:endParaRPr lang="en-US" sz="1725" dirty="0"/>
          </a:p>
        </p:txBody>
      </p:sp>
      <p:sp>
        <p:nvSpPr>
          <p:cNvPr id="57" name="Shape 20">
            <a:extLst>
              <a:ext uri="{FF2B5EF4-FFF2-40B4-BE49-F238E27FC236}">
                <a16:creationId xmlns:a16="http://schemas.microsoft.com/office/drawing/2014/main" id="{3D5388D4-8E5D-B2C8-27C0-A6F52708310D}"/>
              </a:ext>
            </a:extLst>
          </p:cNvPr>
          <p:cNvSpPr/>
          <p:nvPr/>
        </p:nvSpPr>
        <p:spPr>
          <a:xfrm>
            <a:off x="1047750" y="5914184"/>
            <a:ext cx="4626412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3FFD7F90-0FC6-E031-FF85-20569953DE9C}"/>
              </a:ext>
            </a:extLst>
          </p:cNvPr>
          <p:cNvSpPr/>
          <p:nvPr/>
        </p:nvSpPr>
        <p:spPr>
          <a:xfrm>
            <a:off x="1047750" y="6112304"/>
            <a:ext cx="45366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do usuário</a:t>
            </a:r>
            <a:endParaRPr lang="en-US" sz="1950" dirty="0"/>
          </a:p>
        </p:txBody>
      </p:sp>
      <p:sp>
        <p:nvSpPr>
          <p:cNvPr id="61" name="Shape 22">
            <a:extLst>
              <a:ext uri="{FF2B5EF4-FFF2-40B4-BE49-F238E27FC236}">
                <a16:creationId xmlns:a16="http://schemas.microsoft.com/office/drawing/2014/main" id="{13ADD09D-5CE4-46B1-4ABA-31DCB67EE4B1}"/>
              </a:ext>
            </a:extLst>
          </p:cNvPr>
          <p:cNvSpPr/>
          <p:nvPr/>
        </p:nvSpPr>
        <p:spPr>
          <a:xfrm>
            <a:off x="5674162" y="5914184"/>
            <a:ext cx="147197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23">
            <a:extLst>
              <a:ext uri="{FF2B5EF4-FFF2-40B4-BE49-F238E27FC236}">
                <a16:creationId xmlns:a16="http://schemas.microsoft.com/office/drawing/2014/main" id="{846D39FB-3C57-62E9-BD8F-81B70E036EA2}"/>
              </a:ext>
            </a:extLst>
          </p:cNvPr>
          <p:cNvSpPr/>
          <p:nvPr/>
        </p:nvSpPr>
        <p:spPr>
          <a:xfrm>
            <a:off x="5864662" y="6112304"/>
            <a:ext cx="109097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65" name="Shape 24">
            <a:extLst>
              <a:ext uri="{FF2B5EF4-FFF2-40B4-BE49-F238E27FC236}">
                <a16:creationId xmlns:a16="http://schemas.microsoft.com/office/drawing/2014/main" id="{D30AD02D-9CBB-7741-FE45-A74ADD1704A4}"/>
              </a:ext>
            </a:extLst>
          </p:cNvPr>
          <p:cNvSpPr/>
          <p:nvPr/>
        </p:nvSpPr>
        <p:spPr>
          <a:xfrm>
            <a:off x="7146131" y="5914184"/>
            <a:ext cx="10094119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Text 25">
            <a:extLst>
              <a:ext uri="{FF2B5EF4-FFF2-40B4-BE49-F238E27FC236}">
                <a16:creationId xmlns:a16="http://schemas.microsoft.com/office/drawing/2014/main" id="{87405D82-655E-CD36-678C-925591E711B7}"/>
              </a:ext>
            </a:extLst>
          </p:cNvPr>
          <p:cNvSpPr/>
          <p:nvPr/>
        </p:nvSpPr>
        <p:spPr>
          <a:xfrm>
            <a:off x="7374731" y="6112304"/>
            <a:ext cx="1016834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7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de abertas ordenadas; retorno vazio sem erro; expiração das abertas ao editar o plantio</a:t>
            </a:r>
            <a:endParaRPr lang="en-US" sz="1725" dirty="0"/>
          </a:p>
        </p:txBody>
      </p:sp>
      <p:sp>
        <p:nvSpPr>
          <p:cNvPr id="69" name="Shape 26">
            <a:extLst>
              <a:ext uri="{FF2B5EF4-FFF2-40B4-BE49-F238E27FC236}">
                <a16:creationId xmlns:a16="http://schemas.microsoft.com/office/drawing/2014/main" id="{B8FE4B42-0D1D-B3AC-2EB2-014AC38EE02F}"/>
              </a:ext>
            </a:extLst>
          </p:cNvPr>
          <p:cNvSpPr/>
          <p:nvPr/>
        </p:nvSpPr>
        <p:spPr>
          <a:xfrm>
            <a:off x="1047750" y="6630464"/>
            <a:ext cx="4626412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Text 27">
            <a:extLst>
              <a:ext uri="{FF2B5EF4-FFF2-40B4-BE49-F238E27FC236}">
                <a16:creationId xmlns:a16="http://schemas.microsoft.com/office/drawing/2014/main" id="{A7BEAC9A-C30A-3D1C-D722-18C5EECE5ADE}"/>
              </a:ext>
            </a:extLst>
          </p:cNvPr>
          <p:cNvSpPr/>
          <p:nvPr/>
        </p:nvSpPr>
        <p:spPr>
          <a:xfrm>
            <a:off x="1047750" y="6828584"/>
            <a:ext cx="45366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Publicação do evento</a:t>
            </a:r>
            <a:endParaRPr lang="en-US" sz="1950" dirty="0"/>
          </a:p>
        </p:txBody>
      </p:sp>
      <p:sp>
        <p:nvSpPr>
          <p:cNvPr id="73" name="Shape 28">
            <a:extLst>
              <a:ext uri="{FF2B5EF4-FFF2-40B4-BE49-F238E27FC236}">
                <a16:creationId xmlns:a16="http://schemas.microsoft.com/office/drawing/2014/main" id="{2C979410-EA80-CC9D-BA2D-EA899C13B518}"/>
              </a:ext>
            </a:extLst>
          </p:cNvPr>
          <p:cNvSpPr/>
          <p:nvPr/>
        </p:nvSpPr>
        <p:spPr>
          <a:xfrm>
            <a:off x="5674162" y="6630464"/>
            <a:ext cx="147197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Text 29">
            <a:extLst>
              <a:ext uri="{FF2B5EF4-FFF2-40B4-BE49-F238E27FC236}">
                <a16:creationId xmlns:a16="http://schemas.microsoft.com/office/drawing/2014/main" id="{F58A0BC5-514A-AFDC-D384-A4E7AF650F5A}"/>
              </a:ext>
            </a:extLst>
          </p:cNvPr>
          <p:cNvSpPr/>
          <p:nvPr/>
        </p:nvSpPr>
        <p:spPr>
          <a:xfrm>
            <a:off x="5864662" y="6828584"/>
            <a:ext cx="109097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77" name="Shape 30">
            <a:extLst>
              <a:ext uri="{FF2B5EF4-FFF2-40B4-BE49-F238E27FC236}">
                <a16:creationId xmlns:a16="http://schemas.microsoft.com/office/drawing/2014/main" id="{B1707385-5866-8E0E-F6CA-CBD1B99C6231}"/>
              </a:ext>
            </a:extLst>
          </p:cNvPr>
          <p:cNvSpPr/>
          <p:nvPr/>
        </p:nvSpPr>
        <p:spPr>
          <a:xfrm>
            <a:off x="7146131" y="6630464"/>
            <a:ext cx="10094119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9" name="Text 31">
            <a:extLst>
              <a:ext uri="{FF2B5EF4-FFF2-40B4-BE49-F238E27FC236}">
                <a16:creationId xmlns:a16="http://schemas.microsoft.com/office/drawing/2014/main" id="{1A713A9E-624C-B8BA-5D0F-C7F1D5CD24ED}"/>
              </a:ext>
            </a:extLst>
          </p:cNvPr>
          <p:cNvSpPr/>
          <p:nvPr/>
        </p:nvSpPr>
        <p:spPr>
          <a:xfrm>
            <a:off x="7374731" y="6828584"/>
            <a:ext cx="1016834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7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evento por plantio ativo ao fim da consolidação</a:t>
            </a:r>
            <a:endParaRPr lang="en-US" sz="1725" dirty="0"/>
          </a:p>
        </p:txBody>
      </p:sp>
      <p:sp>
        <p:nvSpPr>
          <p:cNvPr id="81" name="Shape 32">
            <a:extLst>
              <a:ext uri="{FF2B5EF4-FFF2-40B4-BE49-F238E27FC236}">
                <a16:creationId xmlns:a16="http://schemas.microsoft.com/office/drawing/2014/main" id="{491BDBA4-7B58-0CFD-F45D-E1601087E69F}"/>
              </a:ext>
            </a:extLst>
          </p:cNvPr>
          <p:cNvSpPr/>
          <p:nvPr/>
        </p:nvSpPr>
        <p:spPr>
          <a:xfrm>
            <a:off x="1047750" y="8063024"/>
            <a:ext cx="4626412" cy="15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3" name="Shape 33">
            <a:extLst>
              <a:ext uri="{FF2B5EF4-FFF2-40B4-BE49-F238E27FC236}">
                <a16:creationId xmlns:a16="http://schemas.microsoft.com/office/drawing/2014/main" id="{B79F1874-4BE9-BC54-1BDB-73E19AB29761}"/>
              </a:ext>
            </a:extLst>
          </p:cNvPr>
          <p:cNvSpPr/>
          <p:nvPr/>
        </p:nvSpPr>
        <p:spPr>
          <a:xfrm>
            <a:off x="1047750" y="7346744"/>
            <a:ext cx="4626412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5" name="Text 34">
            <a:extLst>
              <a:ext uri="{FF2B5EF4-FFF2-40B4-BE49-F238E27FC236}">
                <a16:creationId xmlns:a16="http://schemas.microsoft.com/office/drawing/2014/main" id="{977BB20F-BE5B-F2FC-A1D8-CE4435E64502}"/>
              </a:ext>
            </a:extLst>
          </p:cNvPr>
          <p:cNvSpPr/>
          <p:nvPr/>
        </p:nvSpPr>
        <p:spPr>
          <a:xfrm>
            <a:off x="1047750" y="7544864"/>
            <a:ext cx="453660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Assistente reativo</a:t>
            </a:r>
            <a:endParaRPr lang="en-US" sz="1950" dirty="0"/>
          </a:p>
        </p:txBody>
      </p:sp>
      <p:sp>
        <p:nvSpPr>
          <p:cNvPr id="87" name="Shape 35">
            <a:extLst>
              <a:ext uri="{FF2B5EF4-FFF2-40B4-BE49-F238E27FC236}">
                <a16:creationId xmlns:a16="http://schemas.microsoft.com/office/drawing/2014/main" id="{655BD0B8-A6E8-FAD2-1815-C55996B2D68E}"/>
              </a:ext>
            </a:extLst>
          </p:cNvPr>
          <p:cNvSpPr/>
          <p:nvPr/>
        </p:nvSpPr>
        <p:spPr>
          <a:xfrm>
            <a:off x="5674162" y="8063024"/>
            <a:ext cx="1471970" cy="15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9" name="Shape 36">
            <a:extLst>
              <a:ext uri="{FF2B5EF4-FFF2-40B4-BE49-F238E27FC236}">
                <a16:creationId xmlns:a16="http://schemas.microsoft.com/office/drawing/2014/main" id="{8D698631-E99A-4CC1-688D-2A37DD4A9724}"/>
              </a:ext>
            </a:extLst>
          </p:cNvPr>
          <p:cNvSpPr/>
          <p:nvPr/>
        </p:nvSpPr>
        <p:spPr>
          <a:xfrm>
            <a:off x="5674162" y="7346744"/>
            <a:ext cx="147197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1" name="Text 37">
            <a:extLst>
              <a:ext uri="{FF2B5EF4-FFF2-40B4-BE49-F238E27FC236}">
                <a16:creationId xmlns:a16="http://schemas.microsoft.com/office/drawing/2014/main" id="{B1645588-DA35-1325-BF58-A2A6DAD1D3C3}"/>
              </a:ext>
            </a:extLst>
          </p:cNvPr>
          <p:cNvSpPr/>
          <p:nvPr/>
        </p:nvSpPr>
        <p:spPr>
          <a:xfrm>
            <a:off x="5864662" y="7544864"/>
            <a:ext cx="109097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93" name="Shape 38">
            <a:extLst>
              <a:ext uri="{FF2B5EF4-FFF2-40B4-BE49-F238E27FC236}">
                <a16:creationId xmlns:a16="http://schemas.microsoft.com/office/drawing/2014/main" id="{2DD4F331-AEBD-3D46-9554-4D572A540B7F}"/>
              </a:ext>
            </a:extLst>
          </p:cNvPr>
          <p:cNvSpPr/>
          <p:nvPr/>
        </p:nvSpPr>
        <p:spPr>
          <a:xfrm>
            <a:off x="7146131" y="8063024"/>
            <a:ext cx="10094119" cy="15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5" name="Shape 39">
            <a:extLst>
              <a:ext uri="{FF2B5EF4-FFF2-40B4-BE49-F238E27FC236}">
                <a16:creationId xmlns:a16="http://schemas.microsoft.com/office/drawing/2014/main" id="{015B95E3-3F55-413B-A348-43FCE0003947}"/>
              </a:ext>
            </a:extLst>
          </p:cNvPr>
          <p:cNvSpPr/>
          <p:nvPr/>
        </p:nvSpPr>
        <p:spPr>
          <a:xfrm>
            <a:off x="7146131" y="7346744"/>
            <a:ext cx="10094119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7" name="Text 40">
            <a:extLst>
              <a:ext uri="{FF2B5EF4-FFF2-40B4-BE49-F238E27FC236}">
                <a16:creationId xmlns:a16="http://schemas.microsoft.com/office/drawing/2014/main" id="{F7C62848-D901-534D-0705-25F5337F03F3}"/>
              </a:ext>
            </a:extLst>
          </p:cNvPr>
          <p:cNvSpPr/>
          <p:nvPr/>
        </p:nvSpPr>
        <p:spPr>
          <a:xfrm>
            <a:off x="7374731" y="7544864"/>
            <a:ext cx="1016834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7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estruturado preservado após a delegação à capacidade compartilhada</a:t>
            </a:r>
            <a:endParaRPr lang="en-US" sz="1725" dirty="0"/>
          </a:p>
        </p:txBody>
      </p:sp>
    </p:spTree>
    <p:extLst>
      <p:ext uri="{BB962C8B-B14F-4D97-AF65-F5344CB8AC3E}">
        <p14:creationId xmlns:p14="http://schemas.microsoft.com/office/powerpoint/2010/main" val="40818135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ADB37D-B63F-D193-B63E-DC19530B1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2F9032-CF7A-337F-3E68-871409DB7F37}"/>
              </a:ext>
            </a:extLst>
          </p:cNvPr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09B3BB9-E1C8-4F5B-F030-F496B2ABE445}"/>
              </a:ext>
            </a:extLst>
          </p:cNvPr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40BD039-8362-4A90-0D34-4335F724DC0A}"/>
              </a:ext>
            </a:extLst>
          </p:cNvPr>
          <p:cNvSpPr/>
          <p:nvPr/>
        </p:nvSpPr>
        <p:spPr>
          <a:xfrm>
            <a:off x="2330797" y="857250"/>
            <a:ext cx="28148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29AD011-A511-29E7-10A4-05F748392FFF}"/>
              </a:ext>
            </a:extLst>
          </p:cNvPr>
          <p:cNvSpPr/>
          <p:nvPr/>
        </p:nvSpPr>
        <p:spPr>
          <a:xfrm>
            <a:off x="1238250" y="1314450"/>
            <a:ext cx="173926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pt-BR" sz="4500" b="1" kern="0" spc="-2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CENÁRIOS DE VERIFICAÇÃO PONTA A PONTA</a:t>
            </a:r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A137D779-7439-A652-E531-8EC2C75F9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21" name="Text 20">
            <a:extLst>
              <a:ext uri="{FF2B5EF4-FFF2-40B4-BE49-F238E27FC236}">
                <a16:creationId xmlns:a16="http://schemas.microsoft.com/office/drawing/2014/main" id="{D39A389F-B3A1-3B19-70BD-3DB4BF4E85E5}"/>
              </a:ext>
            </a:extLst>
          </p:cNvPr>
          <p:cNvSpPr/>
          <p:nvPr/>
        </p:nvSpPr>
        <p:spPr>
          <a:xfrm>
            <a:off x="1231722" y="9265024"/>
            <a:ext cx="139484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pt-BR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5 – CENÁRIOS DE VERIFICAÇÃO DE PONTA A PONTA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4A025A6-D032-81E6-0534-07303CBE0CA8}"/>
              </a:ext>
            </a:extLst>
          </p:cNvPr>
          <p:cNvSpPr/>
          <p:nvPr/>
        </p:nvSpPr>
        <p:spPr>
          <a:xfrm>
            <a:off x="1047750" y="2195513"/>
            <a:ext cx="16192500" cy="15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89E4448-442C-12AF-7897-19FCD4D41D09}"/>
              </a:ext>
            </a:extLst>
          </p:cNvPr>
          <p:cNvSpPr/>
          <p:nvPr/>
        </p:nvSpPr>
        <p:spPr>
          <a:xfrm>
            <a:off x="1047750" y="2344103"/>
            <a:ext cx="479393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99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· ENTRADA SIMULADA</a:t>
            </a:r>
            <a:endParaRPr lang="en-US" sz="165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C5D61B7-FDAF-6269-1664-A1C0172F929C}"/>
              </a:ext>
            </a:extLst>
          </p:cNvPr>
          <p:cNvSpPr/>
          <p:nvPr/>
        </p:nvSpPr>
        <p:spPr>
          <a:xfrm>
            <a:off x="6115050" y="2344103"/>
            <a:ext cx="25829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99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</a:t>
            </a:r>
            <a:endParaRPr lang="en-US" sz="165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5C42AC69-5C60-87DB-CFCA-4BE5F27FEBDA}"/>
              </a:ext>
            </a:extLst>
          </p:cNvPr>
          <p:cNvSpPr/>
          <p:nvPr/>
        </p:nvSpPr>
        <p:spPr>
          <a:xfrm>
            <a:off x="9029700" y="2344103"/>
            <a:ext cx="258299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99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</a:t>
            </a:r>
          </a:p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5942C8A9-6AA1-E0E6-2D47-11B1377F67AF}"/>
              </a:ext>
            </a:extLst>
          </p:cNvPr>
          <p:cNvSpPr/>
          <p:nvPr/>
        </p:nvSpPr>
        <p:spPr>
          <a:xfrm>
            <a:off x="11944350" y="2344103"/>
            <a:ext cx="546106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99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OBTIDO</a:t>
            </a:r>
            <a:endParaRPr lang="en-US" sz="165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41E85590-D4D7-8306-A5A9-5694D87CB0FE}"/>
              </a:ext>
            </a:extLst>
          </p:cNvPr>
          <p:cNvSpPr/>
          <p:nvPr/>
        </p:nvSpPr>
        <p:spPr>
          <a:xfrm flipV="1">
            <a:off x="1047750" y="2742563"/>
            <a:ext cx="16192500" cy="10800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grpSp>
        <p:nvGrpSpPr>
          <p:cNvPr id="199" name="Agrupar 198">
            <a:extLst>
              <a:ext uri="{FF2B5EF4-FFF2-40B4-BE49-F238E27FC236}">
                <a16:creationId xmlns:a16="http://schemas.microsoft.com/office/drawing/2014/main" id="{B94F8981-60E0-C91C-6DBA-0D5341DA3E53}"/>
              </a:ext>
            </a:extLst>
          </p:cNvPr>
          <p:cNvGrpSpPr/>
          <p:nvPr/>
        </p:nvGrpSpPr>
        <p:grpSpPr>
          <a:xfrm>
            <a:off x="1047750" y="2890838"/>
            <a:ext cx="16357663" cy="561975"/>
            <a:chOff x="1047750" y="2890838"/>
            <a:chExt cx="16357663" cy="561975"/>
          </a:xfrm>
        </p:grpSpPr>
        <p:grpSp>
          <p:nvGrpSpPr>
            <p:cNvPr id="192" name="Agrupar 191">
              <a:extLst>
                <a:ext uri="{FF2B5EF4-FFF2-40B4-BE49-F238E27FC236}">
                  <a16:creationId xmlns:a16="http://schemas.microsoft.com/office/drawing/2014/main" id="{BA64529F-65B4-1AEF-4422-2A0B0D380075}"/>
                </a:ext>
              </a:extLst>
            </p:cNvPr>
            <p:cNvGrpSpPr/>
            <p:nvPr/>
          </p:nvGrpSpPr>
          <p:grpSpPr>
            <a:xfrm>
              <a:off x="1047750" y="2890838"/>
              <a:ext cx="5113020" cy="561975"/>
              <a:chOff x="1047750" y="2890838"/>
              <a:chExt cx="5113020" cy="561975"/>
            </a:xfrm>
          </p:grpSpPr>
          <p:sp>
            <p:nvSpPr>
              <p:cNvPr id="19" name="Text 10">
                <a:extLst>
                  <a:ext uri="{FF2B5EF4-FFF2-40B4-BE49-F238E27FC236}">
                    <a16:creationId xmlns:a16="http://schemas.microsoft.com/office/drawing/2014/main" id="{3EBBA8C2-6D12-A321-780C-4A66D92C41D0}"/>
                  </a:ext>
                </a:extLst>
              </p:cNvPr>
              <p:cNvSpPr/>
              <p:nvPr/>
            </p:nvSpPr>
            <p:spPr>
              <a:xfrm>
                <a:off x="1047750" y="2890838"/>
                <a:ext cx="5113020" cy="29718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1800" b="1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Déficit hídrico</a:t>
                </a:r>
                <a:endParaRPr lang="en-US" sz="1800" dirty="0"/>
              </a:p>
            </p:txBody>
          </p:sp>
          <p:sp>
            <p:nvSpPr>
              <p:cNvPr id="22" name="Text 11">
                <a:extLst>
                  <a:ext uri="{FF2B5EF4-FFF2-40B4-BE49-F238E27FC236}">
                    <a16:creationId xmlns:a16="http://schemas.microsoft.com/office/drawing/2014/main" id="{A8F2611E-EB7F-8BF6-AB6E-2116F0953485}"/>
                  </a:ext>
                </a:extLst>
              </p:cNvPr>
              <p:cNvSpPr/>
              <p:nvPr/>
            </p:nvSpPr>
            <p:spPr>
              <a:xfrm>
                <a:off x="1047750" y="3178493"/>
                <a:ext cx="5113020" cy="27432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lnSpcReduction="10000"/>
              </a:bodyPr>
              <a:lstStyle/>
              <a:p>
                <a:pPr marL="0" indent="0" algn="l">
                  <a:buNone/>
                </a:pPr>
                <a:r>
                  <a:rPr lang="en-US" sz="1575" dirty="0">
                    <a:solidFill>
                      <a:srgbClr val="9A9A9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Umidade do solo abaixo da faixa</a:t>
                </a:r>
                <a:endParaRPr lang="en-US" sz="1575" dirty="0"/>
              </a:p>
            </p:txBody>
          </p:sp>
        </p:grpSp>
        <p:sp>
          <p:nvSpPr>
            <p:cNvPr id="32" name="Text 13">
              <a:extLst>
                <a:ext uri="{FF2B5EF4-FFF2-40B4-BE49-F238E27FC236}">
                  <a16:creationId xmlns:a16="http://schemas.microsoft.com/office/drawing/2014/main" id="{FF331669-9655-8DB5-536C-EDFEDDC6DE59}"/>
                </a:ext>
              </a:extLst>
            </p:cNvPr>
            <p:cNvSpPr/>
            <p:nvPr/>
          </p:nvSpPr>
          <p:spPr>
            <a:xfrm>
              <a:off x="6115050" y="3027045"/>
              <a:ext cx="2582990" cy="2895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725" dirty="0">
                  <a:solidFill>
                    <a:srgbClr val="4A4A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Hídrico</a:t>
              </a:r>
              <a:endParaRPr lang="en-US" sz="1725" dirty="0"/>
            </a:p>
          </p:txBody>
        </p:sp>
        <p:sp>
          <p:nvSpPr>
            <p:cNvPr id="40" name="Text 15">
              <a:extLst>
                <a:ext uri="{FF2B5EF4-FFF2-40B4-BE49-F238E27FC236}">
                  <a16:creationId xmlns:a16="http://schemas.microsoft.com/office/drawing/2014/main" id="{088202BB-3A81-50A5-3E81-43089D7BF98A}"/>
                </a:ext>
              </a:extLst>
            </p:cNvPr>
            <p:cNvSpPr/>
            <p:nvPr/>
          </p:nvSpPr>
          <p:spPr>
            <a:xfrm>
              <a:off x="9029700" y="3027045"/>
              <a:ext cx="2582990" cy="2895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725" b="1" dirty="0">
                  <a:solidFill>
                    <a:srgbClr val="1B53A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atenção/risco</a:t>
              </a:r>
              <a:endParaRPr lang="en-US" sz="1725" dirty="0"/>
            </a:p>
          </p:txBody>
        </p:sp>
        <p:sp>
          <p:nvSpPr>
            <p:cNvPr id="48" name="Text 17">
              <a:extLst>
                <a:ext uri="{FF2B5EF4-FFF2-40B4-BE49-F238E27FC236}">
                  <a16:creationId xmlns:a16="http://schemas.microsoft.com/office/drawing/2014/main" id="{EEF0383D-4B3A-AF2B-CFC9-A6EE699E42E0}"/>
                </a:ext>
              </a:extLst>
            </p:cNvPr>
            <p:cNvSpPr/>
            <p:nvPr/>
          </p:nvSpPr>
          <p:spPr>
            <a:xfrm>
              <a:off x="11944350" y="3027045"/>
              <a:ext cx="5461063" cy="2895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725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Recomendação de manejo hídrico gerada e exibida</a:t>
              </a:r>
              <a:endParaRPr lang="en-US" sz="1725" dirty="0"/>
            </a:p>
          </p:txBody>
        </p:sp>
      </p:grpSp>
      <p:grpSp>
        <p:nvGrpSpPr>
          <p:cNvPr id="200" name="Agrupar 199">
            <a:extLst>
              <a:ext uri="{FF2B5EF4-FFF2-40B4-BE49-F238E27FC236}">
                <a16:creationId xmlns:a16="http://schemas.microsoft.com/office/drawing/2014/main" id="{B970B6D9-7740-11DD-09AA-0BB0AFA7BD80}"/>
              </a:ext>
            </a:extLst>
          </p:cNvPr>
          <p:cNvGrpSpPr/>
          <p:nvPr/>
        </p:nvGrpSpPr>
        <p:grpSpPr>
          <a:xfrm>
            <a:off x="1047750" y="3746183"/>
            <a:ext cx="16357663" cy="561974"/>
            <a:chOff x="1047750" y="3746183"/>
            <a:chExt cx="16357663" cy="561974"/>
          </a:xfrm>
        </p:grpSpPr>
        <p:grpSp>
          <p:nvGrpSpPr>
            <p:cNvPr id="193" name="Agrupar 192">
              <a:extLst>
                <a:ext uri="{FF2B5EF4-FFF2-40B4-BE49-F238E27FC236}">
                  <a16:creationId xmlns:a16="http://schemas.microsoft.com/office/drawing/2014/main" id="{1A75C92B-3605-C117-C27E-22DDF304469F}"/>
                </a:ext>
              </a:extLst>
            </p:cNvPr>
            <p:cNvGrpSpPr/>
            <p:nvPr/>
          </p:nvGrpSpPr>
          <p:grpSpPr>
            <a:xfrm>
              <a:off x="1047750" y="3746183"/>
              <a:ext cx="5113020" cy="561974"/>
              <a:chOff x="1047750" y="3746183"/>
              <a:chExt cx="5113020" cy="561974"/>
            </a:xfrm>
          </p:grpSpPr>
          <p:sp>
            <p:nvSpPr>
              <p:cNvPr id="56" name="Text 19">
                <a:extLst>
                  <a:ext uri="{FF2B5EF4-FFF2-40B4-BE49-F238E27FC236}">
                    <a16:creationId xmlns:a16="http://schemas.microsoft.com/office/drawing/2014/main" id="{267FF52D-9658-AF56-B39D-F48D4C55B6CE}"/>
                  </a:ext>
                </a:extLst>
              </p:cNvPr>
              <p:cNvSpPr/>
              <p:nvPr/>
            </p:nvSpPr>
            <p:spPr>
              <a:xfrm>
                <a:off x="1047750" y="3746183"/>
                <a:ext cx="5113020" cy="29718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1800" b="1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Estresse térmico</a:t>
                </a:r>
                <a:endParaRPr lang="en-US" sz="1800" dirty="0"/>
              </a:p>
            </p:txBody>
          </p:sp>
          <p:sp>
            <p:nvSpPr>
              <p:cNvPr id="60" name="Text 20">
                <a:extLst>
                  <a:ext uri="{FF2B5EF4-FFF2-40B4-BE49-F238E27FC236}">
                    <a16:creationId xmlns:a16="http://schemas.microsoft.com/office/drawing/2014/main" id="{AC892376-E44E-8D92-2AC3-819FFB613007}"/>
                  </a:ext>
                </a:extLst>
              </p:cNvPr>
              <p:cNvSpPr/>
              <p:nvPr/>
            </p:nvSpPr>
            <p:spPr>
              <a:xfrm>
                <a:off x="1047750" y="4033837"/>
                <a:ext cx="5113020" cy="27432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lnSpcReduction="10000"/>
              </a:bodyPr>
              <a:lstStyle/>
              <a:p>
                <a:pPr marL="0" indent="0" algn="l">
                  <a:buNone/>
                </a:pPr>
                <a:r>
                  <a:rPr lang="en-US" sz="1575" dirty="0">
                    <a:solidFill>
                      <a:srgbClr val="9A9A9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Temperatura do solo acima do limiar</a:t>
                </a:r>
                <a:endParaRPr lang="en-US" sz="1575" dirty="0"/>
              </a:p>
            </p:txBody>
          </p:sp>
        </p:grpSp>
        <p:sp>
          <p:nvSpPr>
            <p:cNvPr id="68" name="Text 22">
              <a:extLst>
                <a:ext uri="{FF2B5EF4-FFF2-40B4-BE49-F238E27FC236}">
                  <a16:creationId xmlns:a16="http://schemas.microsoft.com/office/drawing/2014/main" id="{B4C7B8E2-0ACB-563E-04CB-77703E062D0A}"/>
                </a:ext>
              </a:extLst>
            </p:cNvPr>
            <p:cNvSpPr/>
            <p:nvPr/>
          </p:nvSpPr>
          <p:spPr>
            <a:xfrm>
              <a:off x="6115050" y="3882390"/>
              <a:ext cx="2582990" cy="2895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725" dirty="0">
                  <a:solidFill>
                    <a:srgbClr val="4A4A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Térmico</a:t>
              </a:r>
              <a:endParaRPr lang="en-US" sz="1725" dirty="0"/>
            </a:p>
          </p:txBody>
        </p:sp>
        <p:sp>
          <p:nvSpPr>
            <p:cNvPr id="76" name="Text 24">
              <a:extLst>
                <a:ext uri="{FF2B5EF4-FFF2-40B4-BE49-F238E27FC236}">
                  <a16:creationId xmlns:a16="http://schemas.microsoft.com/office/drawing/2014/main" id="{8A55AC08-CAF8-2DAC-391E-4F225CD36527}"/>
                </a:ext>
              </a:extLst>
            </p:cNvPr>
            <p:cNvSpPr/>
            <p:nvPr/>
          </p:nvSpPr>
          <p:spPr>
            <a:xfrm>
              <a:off x="9029700" y="3882390"/>
              <a:ext cx="2582990" cy="2895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725" b="1" dirty="0">
                  <a:solidFill>
                    <a:srgbClr val="1B53A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risco</a:t>
              </a:r>
              <a:endParaRPr lang="en-US" sz="1725" dirty="0"/>
            </a:p>
          </p:txBody>
        </p:sp>
        <p:sp>
          <p:nvSpPr>
            <p:cNvPr id="84" name="Text 26">
              <a:extLst>
                <a:ext uri="{FF2B5EF4-FFF2-40B4-BE49-F238E27FC236}">
                  <a16:creationId xmlns:a16="http://schemas.microsoft.com/office/drawing/2014/main" id="{A27285BC-3310-1A63-BE5A-16FAE9B3CA17}"/>
                </a:ext>
              </a:extLst>
            </p:cNvPr>
            <p:cNvSpPr/>
            <p:nvPr/>
          </p:nvSpPr>
          <p:spPr>
            <a:xfrm>
              <a:off x="11944350" y="3882390"/>
              <a:ext cx="5461063" cy="2895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725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Recomendação gerada e exibida</a:t>
              </a:r>
              <a:endParaRPr lang="en-US" sz="1725" dirty="0"/>
            </a:p>
          </p:txBody>
        </p:sp>
      </p:grpSp>
      <p:grpSp>
        <p:nvGrpSpPr>
          <p:cNvPr id="201" name="Agrupar 200">
            <a:extLst>
              <a:ext uri="{FF2B5EF4-FFF2-40B4-BE49-F238E27FC236}">
                <a16:creationId xmlns:a16="http://schemas.microsoft.com/office/drawing/2014/main" id="{DB85B6AD-A048-F8DD-F8F6-F7CE60AD7B63}"/>
              </a:ext>
            </a:extLst>
          </p:cNvPr>
          <p:cNvGrpSpPr/>
          <p:nvPr/>
        </p:nvGrpSpPr>
        <p:grpSpPr>
          <a:xfrm>
            <a:off x="1047750" y="4601527"/>
            <a:ext cx="16357663" cy="561974"/>
            <a:chOff x="1047750" y="4601528"/>
            <a:chExt cx="16357663" cy="561974"/>
          </a:xfrm>
        </p:grpSpPr>
        <p:grpSp>
          <p:nvGrpSpPr>
            <p:cNvPr id="194" name="Agrupar 193">
              <a:extLst>
                <a:ext uri="{FF2B5EF4-FFF2-40B4-BE49-F238E27FC236}">
                  <a16:creationId xmlns:a16="http://schemas.microsoft.com/office/drawing/2014/main" id="{14551FC5-86A4-C3D5-C73C-4DCC9FF8E2BE}"/>
                </a:ext>
              </a:extLst>
            </p:cNvPr>
            <p:cNvGrpSpPr/>
            <p:nvPr/>
          </p:nvGrpSpPr>
          <p:grpSpPr>
            <a:xfrm>
              <a:off x="1047750" y="4601528"/>
              <a:ext cx="5113020" cy="561974"/>
              <a:chOff x="1047750" y="4601528"/>
              <a:chExt cx="5113020" cy="561974"/>
            </a:xfrm>
          </p:grpSpPr>
          <p:sp>
            <p:nvSpPr>
              <p:cNvPr id="92" name="Text 28">
                <a:extLst>
                  <a:ext uri="{FF2B5EF4-FFF2-40B4-BE49-F238E27FC236}">
                    <a16:creationId xmlns:a16="http://schemas.microsoft.com/office/drawing/2014/main" id="{4B6267AD-9061-D052-C05C-7B8685A5A585}"/>
                  </a:ext>
                </a:extLst>
              </p:cNvPr>
              <p:cNvSpPr/>
              <p:nvPr/>
            </p:nvSpPr>
            <p:spPr>
              <a:xfrm>
                <a:off x="1047750" y="4601528"/>
                <a:ext cx="5113020" cy="29718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1800" b="1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Ar mal ventilado</a:t>
                </a:r>
                <a:endParaRPr lang="en-US" sz="1800" dirty="0"/>
              </a:p>
            </p:txBody>
          </p:sp>
          <p:sp>
            <p:nvSpPr>
              <p:cNvPr id="96" name="Text 29">
                <a:extLst>
                  <a:ext uri="{FF2B5EF4-FFF2-40B4-BE49-F238E27FC236}">
                    <a16:creationId xmlns:a16="http://schemas.microsoft.com/office/drawing/2014/main" id="{DFCC1540-14C7-7779-3D65-02F0A069792F}"/>
                  </a:ext>
                </a:extLst>
              </p:cNvPr>
              <p:cNvSpPr/>
              <p:nvPr/>
            </p:nvSpPr>
            <p:spPr>
              <a:xfrm>
                <a:off x="1047750" y="4889182"/>
                <a:ext cx="5113020" cy="27432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lnSpcReduction="10000"/>
              </a:bodyPr>
              <a:lstStyle/>
              <a:p>
                <a:pPr marL="0" indent="0" algn="l">
                  <a:buNone/>
                </a:pPr>
                <a:r>
                  <a:rPr lang="en-US" sz="1575" dirty="0">
                    <a:solidFill>
                      <a:srgbClr val="9A9A9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CO₂ acima da faixa</a:t>
                </a:r>
                <a:endParaRPr lang="en-US" sz="1575" dirty="0"/>
              </a:p>
            </p:txBody>
          </p:sp>
        </p:grpSp>
        <p:sp>
          <p:nvSpPr>
            <p:cNvPr id="101" name="Text 31">
              <a:extLst>
                <a:ext uri="{FF2B5EF4-FFF2-40B4-BE49-F238E27FC236}">
                  <a16:creationId xmlns:a16="http://schemas.microsoft.com/office/drawing/2014/main" id="{3253997C-3D45-4931-4BFF-6E3162DF7EC8}"/>
                </a:ext>
              </a:extLst>
            </p:cNvPr>
            <p:cNvSpPr/>
            <p:nvPr/>
          </p:nvSpPr>
          <p:spPr>
            <a:xfrm>
              <a:off x="6115050" y="4737735"/>
              <a:ext cx="2582990" cy="2895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725" dirty="0">
                  <a:solidFill>
                    <a:srgbClr val="4A4A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Atmosfera</a:t>
              </a:r>
              <a:endParaRPr lang="en-US" sz="1725" dirty="0"/>
            </a:p>
          </p:txBody>
        </p:sp>
        <p:sp>
          <p:nvSpPr>
            <p:cNvPr id="105" name="Text 33">
              <a:extLst>
                <a:ext uri="{FF2B5EF4-FFF2-40B4-BE49-F238E27FC236}">
                  <a16:creationId xmlns:a16="http://schemas.microsoft.com/office/drawing/2014/main" id="{137B79AD-D24E-9FCC-BC1E-B8E18460D199}"/>
                </a:ext>
              </a:extLst>
            </p:cNvPr>
            <p:cNvSpPr/>
            <p:nvPr/>
          </p:nvSpPr>
          <p:spPr>
            <a:xfrm>
              <a:off x="9029700" y="4737735"/>
              <a:ext cx="2582990" cy="2895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725" b="1" dirty="0">
                  <a:solidFill>
                    <a:srgbClr val="1B53A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atenção/risco</a:t>
              </a:r>
              <a:endParaRPr lang="en-US" sz="1725" dirty="0"/>
            </a:p>
          </p:txBody>
        </p:sp>
        <p:sp>
          <p:nvSpPr>
            <p:cNvPr id="109" name="Text 35">
              <a:extLst>
                <a:ext uri="{FF2B5EF4-FFF2-40B4-BE49-F238E27FC236}">
                  <a16:creationId xmlns:a16="http://schemas.microsoft.com/office/drawing/2014/main" id="{4B14A9C2-ABFD-5C07-6BEA-0EE02C82057B}"/>
                </a:ext>
              </a:extLst>
            </p:cNvPr>
            <p:cNvSpPr/>
            <p:nvPr/>
          </p:nvSpPr>
          <p:spPr>
            <a:xfrm>
              <a:off x="11944350" y="4737735"/>
              <a:ext cx="5461063" cy="2895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725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Recomendação de ventilação gerada</a:t>
              </a:r>
              <a:endParaRPr lang="en-US" sz="1725" dirty="0"/>
            </a:p>
          </p:txBody>
        </p:sp>
      </p:grpSp>
      <p:grpSp>
        <p:nvGrpSpPr>
          <p:cNvPr id="202" name="Agrupar 201">
            <a:extLst>
              <a:ext uri="{FF2B5EF4-FFF2-40B4-BE49-F238E27FC236}">
                <a16:creationId xmlns:a16="http://schemas.microsoft.com/office/drawing/2014/main" id="{75043772-DA5D-8A27-69C0-5B5C8C5CBB0E}"/>
              </a:ext>
            </a:extLst>
          </p:cNvPr>
          <p:cNvGrpSpPr/>
          <p:nvPr/>
        </p:nvGrpSpPr>
        <p:grpSpPr>
          <a:xfrm>
            <a:off x="1047750" y="5456871"/>
            <a:ext cx="16357663" cy="561975"/>
            <a:chOff x="1047750" y="5456873"/>
            <a:chExt cx="16357663" cy="561975"/>
          </a:xfrm>
        </p:grpSpPr>
        <p:grpSp>
          <p:nvGrpSpPr>
            <p:cNvPr id="195" name="Agrupar 194">
              <a:extLst>
                <a:ext uri="{FF2B5EF4-FFF2-40B4-BE49-F238E27FC236}">
                  <a16:creationId xmlns:a16="http://schemas.microsoft.com/office/drawing/2014/main" id="{B041EFA4-A535-16F2-16CA-8DCEA6C318E5}"/>
                </a:ext>
              </a:extLst>
            </p:cNvPr>
            <p:cNvGrpSpPr/>
            <p:nvPr/>
          </p:nvGrpSpPr>
          <p:grpSpPr>
            <a:xfrm>
              <a:off x="1047750" y="5456873"/>
              <a:ext cx="5113020" cy="561975"/>
              <a:chOff x="1047750" y="5456873"/>
              <a:chExt cx="5113020" cy="561975"/>
            </a:xfrm>
          </p:grpSpPr>
          <p:sp>
            <p:nvSpPr>
              <p:cNvPr id="113" name="Text 37">
                <a:extLst>
                  <a:ext uri="{FF2B5EF4-FFF2-40B4-BE49-F238E27FC236}">
                    <a16:creationId xmlns:a16="http://schemas.microsoft.com/office/drawing/2014/main" id="{072EFF4F-B46F-C15A-3E64-095E72741BA9}"/>
                  </a:ext>
                </a:extLst>
              </p:cNvPr>
              <p:cNvSpPr/>
              <p:nvPr/>
            </p:nvSpPr>
            <p:spPr>
              <a:xfrm>
                <a:off x="1047750" y="5456873"/>
                <a:ext cx="5113020" cy="29718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1800" b="1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Luz inadequada</a:t>
                </a:r>
                <a:endParaRPr lang="en-US" sz="1800" dirty="0"/>
              </a:p>
            </p:txBody>
          </p:sp>
          <p:sp>
            <p:nvSpPr>
              <p:cNvPr id="115" name="Text 38">
                <a:extLst>
                  <a:ext uri="{FF2B5EF4-FFF2-40B4-BE49-F238E27FC236}">
                    <a16:creationId xmlns:a16="http://schemas.microsoft.com/office/drawing/2014/main" id="{350D91F5-6E6E-5C24-FE99-C7E634662C2D}"/>
                  </a:ext>
                </a:extLst>
              </p:cNvPr>
              <p:cNvSpPr/>
              <p:nvPr/>
            </p:nvSpPr>
            <p:spPr>
              <a:xfrm>
                <a:off x="1047750" y="5744528"/>
                <a:ext cx="5113020" cy="27432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lnSpcReduction="10000"/>
              </a:bodyPr>
              <a:lstStyle/>
              <a:p>
                <a:pPr marL="0" indent="0" algn="l">
                  <a:buNone/>
                </a:pPr>
                <a:r>
                  <a:rPr lang="en-US" sz="1575" dirty="0">
                    <a:solidFill>
                      <a:srgbClr val="9A9A9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Radiação UV fora da faixa esperada</a:t>
                </a:r>
                <a:endParaRPr lang="en-US" sz="1575" dirty="0"/>
              </a:p>
            </p:txBody>
          </p:sp>
        </p:grpSp>
        <p:sp>
          <p:nvSpPr>
            <p:cNvPr id="119" name="Text 40">
              <a:extLst>
                <a:ext uri="{FF2B5EF4-FFF2-40B4-BE49-F238E27FC236}">
                  <a16:creationId xmlns:a16="http://schemas.microsoft.com/office/drawing/2014/main" id="{33B36620-25B5-C827-ABCE-C0877D15A5A7}"/>
                </a:ext>
              </a:extLst>
            </p:cNvPr>
            <p:cNvSpPr/>
            <p:nvPr/>
          </p:nvSpPr>
          <p:spPr>
            <a:xfrm>
              <a:off x="6115050" y="5593080"/>
              <a:ext cx="2582990" cy="2895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725" dirty="0">
                  <a:solidFill>
                    <a:srgbClr val="4A4A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Luz</a:t>
              </a:r>
              <a:endParaRPr lang="en-US" sz="1725" dirty="0"/>
            </a:p>
          </p:txBody>
        </p:sp>
        <p:sp>
          <p:nvSpPr>
            <p:cNvPr id="123" name="Text 42">
              <a:extLst>
                <a:ext uri="{FF2B5EF4-FFF2-40B4-BE49-F238E27FC236}">
                  <a16:creationId xmlns:a16="http://schemas.microsoft.com/office/drawing/2014/main" id="{B21917EE-DB0D-38A8-F29B-18D2ECA41198}"/>
                </a:ext>
              </a:extLst>
            </p:cNvPr>
            <p:cNvSpPr/>
            <p:nvPr/>
          </p:nvSpPr>
          <p:spPr>
            <a:xfrm>
              <a:off x="9029700" y="5593080"/>
              <a:ext cx="2582990" cy="2895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725" b="1" dirty="0">
                  <a:solidFill>
                    <a:srgbClr val="1B53A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atenção</a:t>
              </a:r>
              <a:endParaRPr lang="en-US" sz="1725" dirty="0"/>
            </a:p>
          </p:txBody>
        </p:sp>
        <p:sp>
          <p:nvSpPr>
            <p:cNvPr id="127" name="Text 44">
              <a:extLst>
                <a:ext uri="{FF2B5EF4-FFF2-40B4-BE49-F238E27FC236}">
                  <a16:creationId xmlns:a16="http://schemas.microsoft.com/office/drawing/2014/main" id="{1BA5A790-3D84-E1AE-5C4B-D77E89A34C0F}"/>
                </a:ext>
              </a:extLst>
            </p:cNvPr>
            <p:cNvSpPr/>
            <p:nvPr/>
          </p:nvSpPr>
          <p:spPr>
            <a:xfrm>
              <a:off x="11944350" y="5593080"/>
              <a:ext cx="5461063" cy="2895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725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Recomendação gerada</a:t>
              </a:r>
              <a:endParaRPr lang="en-US" sz="1725" dirty="0"/>
            </a:p>
          </p:txBody>
        </p:sp>
      </p:grpSp>
      <p:grpSp>
        <p:nvGrpSpPr>
          <p:cNvPr id="203" name="Agrupar 202">
            <a:extLst>
              <a:ext uri="{FF2B5EF4-FFF2-40B4-BE49-F238E27FC236}">
                <a16:creationId xmlns:a16="http://schemas.microsoft.com/office/drawing/2014/main" id="{1A3EFAF2-EEDD-AD2F-D4B5-3B9A222F2A21}"/>
              </a:ext>
            </a:extLst>
          </p:cNvPr>
          <p:cNvGrpSpPr/>
          <p:nvPr/>
        </p:nvGrpSpPr>
        <p:grpSpPr>
          <a:xfrm>
            <a:off x="1047750" y="6312216"/>
            <a:ext cx="16357663" cy="561975"/>
            <a:chOff x="1047750" y="6312218"/>
            <a:chExt cx="16357663" cy="561975"/>
          </a:xfrm>
        </p:grpSpPr>
        <p:grpSp>
          <p:nvGrpSpPr>
            <p:cNvPr id="196" name="Agrupar 195">
              <a:extLst>
                <a:ext uri="{FF2B5EF4-FFF2-40B4-BE49-F238E27FC236}">
                  <a16:creationId xmlns:a16="http://schemas.microsoft.com/office/drawing/2014/main" id="{571EDB32-3AA9-25F3-8C52-345F87525B25}"/>
                </a:ext>
              </a:extLst>
            </p:cNvPr>
            <p:cNvGrpSpPr/>
            <p:nvPr/>
          </p:nvGrpSpPr>
          <p:grpSpPr>
            <a:xfrm>
              <a:off x="1047750" y="6312218"/>
              <a:ext cx="5113020" cy="561975"/>
              <a:chOff x="1047750" y="6312218"/>
              <a:chExt cx="5113020" cy="561975"/>
            </a:xfrm>
          </p:grpSpPr>
          <p:sp>
            <p:nvSpPr>
              <p:cNvPr id="131" name="Text 46">
                <a:extLst>
                  <a:ext uri="{FF2B5EF4-FFF2-40B4-BE49-F238E27FC236}">
                    <a16:creationId xmlns:a16="http://schemas.microsoft.com/office/drawing/2014/main" id="{BD0B159E-5A71-4042-25C6-D7C6B0ECA1EF}"/>
                  </a:ext>
                </a:extLst>
              </p:cNvPr>
              <p:cNvSpPr/>
              <p:nvPr/>
            </p:nvSpPr>
            <p:spPr>
              <a:xfrm>
                <a:off x="1047750" y="6312218"/>
                <a:ext cx="5113020" cy="29718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1800" b="1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Dado não confiável</a:t>
                </a:r>
                <a:endParaRPr lang="en-US" sz="1800" dirty="0"/>
              </a:p>
            </p:txBody>
          </p:sp>
          <p:sp>
            <p:nvSpPr>
              <p:cNvPr id="133" name="Text 47">
                <a:extLst>
                  <a:ext uri="{FF2B5EF4-FFF2-40B4-BE49-F238E27FC236}">
                    <a16:creationId xmlns:a16="http://schemas.microsoft.com/office/drawing/2014/main" id="{C9BCD14D-F965-04AD-7FA7-B800F0C69289}"/>
                  </a:ext>
                </a:extLst>
              </p:cNvPr>
              <p:cNvSpPr/>
              <p:nvPr/>
            </p:nvSpPr>
            <p:spPr>
              <a:xfrm>
                <a:off x="1047750" y="6599873"/>
                <a:ext cx="5113020" cy="27432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lnSpcReduction="10000"/>
              </a:bodyPr>
              <a:lstStyle/>
              <a:p>
                <a:pPr marL="0" indent="0" algn="l">
                  <a:buNone/>
                </a:pPr>
                <a:r>
                  <a:rPr lang="en-US" sz="1575" dirty="0">
                    <a:solidFill>
                      <a:srgbClr val="9A9A9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Leitura fisicamente implausível</a:t>
                </a:r>
                <a:endParaRPr lang="en-US" sz="1575" dirty="0"/>
              </a:p>
            </p:txBody>
          </p:sp>
        </p:grpSp>
        <p:sp>
          <p:nvSpPr>
            <p:cNvPr id="137" name="Text 49">
              <a:extLst>
                <a:ext uri="{FF2B5EF4-FFF2-40B4-BE49-F238E27FC236}">
                  <a16:creationId xmlns:a16="http://schemas.microsoft.com/office/drawing/2014/main" id="{CC1AA49E-0BE1-48FA-7C83-DDBDA8050615}"/>
                </a:ext>
              </a:extLst>
            </p:cNvPr>
            <p:cNvSpPr/>
            <p:nvPr/>
          </p:nvSpPr>
          <p:spPr>
            <a:xfrm>
              <a:off x="6115050" y="6448425"/>
              <a:ext cx="2582990" cy="2895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725" dirty="0">
                  <a:solidFill>
                    <a:srgbClr val="4A4A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Integridade</a:t>
              </a:r>
              <a:endParaRPr lang="en-US" sz="1725" dirty="0"/>
            </a:p>
          </p:txBody>
        </p:sp>
        <p:sp>
          <p:nvSpPr>
            <p:cNvPr id="141" name="Text 51">
              <a:extLst>
                <a:ext uri="{FF2B5EF4-FFF2-40B4-BE49-F238E27FC236}">
                  <a16:creationId xmlns:a16="http://schemas.microsoft.com/office/drawing/2014/main" id="{134FAA29-FE5D-405F-654A-6C5A93AE9515}"/>
                </a:ext>
              </a:extLst>
            </p:cNvPr>
            <p:cNvSpPr/>
            <p:nvPr/>
          </p:nvSpPr>
          <p:spPr>
            <a:xfrm>
              <a:off x="9029700" y="6448425"/>
              <a:ext cx="2582990" cy="2895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725" b="1" dirty="0">
                  <a:solidFill>
                    <a:srgbClr val="1B53A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suspeito</a:t>
              </a:r>
              <a:endParaRPr lang="en-US" sz="1725" dirty="0"/>
            </a:p>
          </p:txBody>
        </p:sp>
        <p:sp>
          <p:nvSpPr>
            <p:cNvPr id="145" name="Text 53">
              <a:extLst>
                <a:ext uri="{FF2B5EF4-FFF2-40B4-BE49-F238E27FC236}">
                  <a16:creationId xmlns:a16="http://schemas.microsoft.com/office/drawing/2014/main" id="{8ECFC379-BFAA-E1BA-798A-A8DC757F56CB}"/>
                </a:ext>
              </a:extLst>
            </p:cNvPr>
            <p:cNvSpPr/>
            <p:nvPr/>
          </p:nvSpPr>
          <p:spPr>
            <a:xfrm>
              <a:off x="11944350" y="6322695"/>
              <a:ext cx="5461063" cy="5410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725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Recomendação agronômica ressalvada quanto à confiabilidade</a:t>
              </a:r>
              <a:endParaRPr lang="en-US" sz="1725" dirty="0"/>
            </a:p>
          </p:txBody>
        </p:sp>
      </p:grpSp>
      <p:grpSp>
        <p:nvGrpSpPr>
          <p:cNvPr id="204" name="Agrupar 203">
            <a:extLst>
              <a:ext uri="{FF2B5EF4-FFF2-40B4-BE49-F238E27FC236}">
                <a16:creationId xmlns:a16="http://schemas.microsoft.com/office/drawing/2014/main" id="{71F50529-9AD8-5E9E-F8BD-F885F3D697CF}"/>
              </a:ext>
            </a:extLst>
          </p:cNvPr>
          <p:cNvGrpSpPr/>
          <p:nvPr/>
        </p:nvGrpSpPr>
        <p:grpSpPr>
          <a:xfrm>
            <a:off x="1047750" y="7167561"/>
            <a:ext cx="16357663" cy="561975"/>
            <a:chOff x="1047750" y="7167563"/>
            <a:chExt cx="16357663" cy="561975"/>
          </a:xfrm>
        </p:grpSpPr>
        <p:grpSp>
          <p:nvGrpSpPr>
            <p:cNvPr id="197" name="Agrupar 196">
              <a:extLst>
                <a:ext uri="{FF2B5EF4-FFF2-40B4-BE49-F238E27FC236}">
                  <a16:creationId xmlns:a16="http://schemas.microsoft.com/office/drawing/2014/main" id="{1D7E458A-4EA8-6BA2-7E14-EB29A5F766B8}"/>
                </a:ext>
              </a:extLst>
            </p:cNvPr>
            <p:cNvGrpSpPr/>
            <p:nvPr/>
          </p:nvGrpSpPr>
          <p:grpSpPr>
            <a:xfrm>
              <a:off x="1047750" y="7167563"/>
              <a:ext cx="5113020" cy="561975"/>
              <a:chOff x="1047750" y="7167563"/>
              <a:chExt cx="5113020" cy="561975"/>
            </a:xfrm>
          </p:grpSpPr>
          <p:sp>
            <p:nvSpPr>
              <p:cNvPr id="149" name="Text 55">
                <a:extLst>
                  <a:ext uri="{FF2B5EF4-FFF2-40B4-BE49-F238E27FC236}">
                    <a16:creationId xmlns:a16="http://schemas.microsoft.com/office/drawing/2014/main" id="{B92E2284-4EB8-7C14-F238-778EF69EAC92}"/>
                  </a:ext>
                </a:extLst>
              </p:cNvPr>
              <p:cNvSpPr/>
              <p:nvPr/>
            </p:nvSpPr>
            <p:spPr>
              <a:xfrm>
                <a:off x="1047750" y="7167563"/>
                <a:ext cx="5113020" cy="29718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1800" b="1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Repetição na carência</a:t>
                </a:r>
                <a:endParaRPr lang="en-US" sz="1800" dirty="0"/>
              </a:p>
            </p:txBody>
          </p:sp>
          <p:sp>
            <p:nvSpPr>
              <p:cNvPr id="151" name="Text 56">
                <a:extLst>
                  <a:ext uri="{FF2B5EF4-FFF2-40B4-BE49-F238E27FC236}">
                    <a16:creationId xmlns:a16="http://schemas.microsoft.com/office/drawing/2014/main" id="{B98C8914-4CD1-EE9D-47AE-15205A3C5FBA}"/>
                  </a:ext>
                </a:extLst>
              </p:cNvPr>
              <p:cNvSpPr/>
              <p:nvPr/>
            </p:nvSpPr>
            <p:spPr>
              <a:xfrm>
                <a:off x="1047750" y="7455218"/>
                <a:ext cx="5113020" cy="27432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lnSpcReduction="10000"/>
              </a:bodyPr>
              <a:lstStyle/>
              <a:p>
                <a:pPr marL="0" indent="0" algn="l">
                  <a:buNone/>
                </a:pPr>
                <a:r>
                  <a:rPr lang="en-US" sz="1575" dirty="0">
                    <a:solidFill>
                      <a:srgbClr val="9A9A9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Reenvio da mesma anomalia na janela</a:t>
                </a:r>
                <a:endParaRPr lang="en-US" sz="1575" dirty="0"/>
              </a:p>
            </p:txBody>
          </p:sp>
        </p:grpSp>
        <p:sp>
          <p:nvSpPr>
            <p:cNvPr id="155" name="Text 58">
              <a:extLst>
                <a:ext uri="{FF2B5EF4-FFF2-40B4-BE49-F238E27FC236}">
                  <a16:creationId xmlns:a16="http://schemas.microsoft.com/office/drawing/2014/main" id="{3DDDB760-AF1D-5A6A-3477-0E6F031DC0F8}"/>
                </a:ext>
              </a:extLst>
            </p:cNvPr>
            <p:cNvSpPr/>
            <p:nvPr/>
          </p:nvSpPr>
          <p:spPr>
            <a:xfrm>
              <a:off x="6115050" y="7303770"/>
              <a:ext cx="2582990" cy="2895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725" dirty="0">
                  <a:solidFill>
                    <a:srgbClr val="9A9A9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—</a:t>
              </a:r>
              <a:endParaRPr lang="en-US" sz="1725" dirty="0"/>
            </a:p>
          </p:txBody>
        </p:sp>
        <p:sp>
          <p:nvSpPr>
            <p:cNvPr id="159" name="Text 60">
              <a:extLst>
                <a:ext uri="{FF2B5EF4-FFF2-40B4-BE49-F238E27FC236}">
                  <a16:creationId xmlns:a16="http://schemas.microsoft.com/office/drawing/2014/main" id="{670B6145-9077-5C75-8F06-9006F607DD55}"/>
                </a:ext>
              </a:extLst>
            </p:cNvPr>
            <p:cNvSpPr/>
            <p:nvPr/>
          </p:nvSpPr>
          <p:spPr>
            <a:xfrm>
              <a:off x="9029700" y="7303770"/>
              <a:ext cx="2582990" cy="2895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725" dirty="0">
                  <a:solidFill>
                    <a:srgbClr val="9A9A9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—</a:t>
              </a:r>
              <a:endParaRPr lang="en-US" sz="1725" dirty="0"/>
            </a:p>
          </p:txBody>
        </p:sp>
        <p:sp>
          <p:nvSpPr>
            <p:cNvPr id="163" name="Text 62">
              <a:extLst>
                <a:ext uri="{FF2B5EF4-FFF2-40B4-BE49-F238E27FC236}">
                  <a16:creationId xmlns:a16="http://schemas.microsoft.com/office/drawing/2014/main" id="{33762D27-5356-EB0B-747A-F3E444C37C46}"/>
                </a:ext>
              </a:extLst>
            </p:cNvPr>
            <p:cNvSpPr/>
            <p:nvPr/>
          </p:nvSpPr>
          <p:spPr>
            <a:xfrm>
              <a:off x="11944350" y="7303770"/>
              <a:ext cx="5461063" cy="2895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725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Achado deduplicado, sem nova recomendação</a:t>
              </a:r>
              <a:endParaRPr lang="en-US" sz="1725" dirty="0"/>
            </a:p>
          </p:txBody>
        </p:sp>
      </p:grp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ACB73045-91AF-4D89-77CE-3CF82D5EF0A0}"/>
              </a:ext>
            </a:extLst>
          </p:cNvPr>
          <p:cNvGrpSpPr/>
          <p:nvPr/>
        </p:nvGrpSpPr>
        <p:grpSpPr>
          <a:xfrm>
            <a:off x="1047750" y="8022907"/>
            <a:ext cx="16357663" cy="561975"/>
            <a:chOff x="1047750" y="8022907"/>
            <a:chExt cx="16357663" cy="561975"/>
          </a:xfrm>
        </p:grpSpPr>
        <p:grpSp>
          <p:nvGrpSpPr>
            <p:cNvPr id="198" name="Agrupar 197">
              <a:extLst>
                <a:ext uri="{FF2B5EF4-FFF2-40B4-BE49-F238E27FC236}">
                  <a16:creationId xmlns:a16="http://schemas.microsoft.com/office/drawing/2014/main" id="{072AFFBD-5516-BB9E-CB6F-32BE8FD7288A}"/>
                </a:ext>
              </a:extLst>
            </p:cNvPr>
            <p:cNvGrpSpPr/>
            <p:nvPr/>
          </p:nvGrpSpPr>
          <p:grpSpPr>
            <a:xfrm>
              <a:off x="1047750" y="8022907"/>
              <a:ext cx="5113020" cy="561975"/>
              <a:chOff x="1047750" y="8022907"/>
              <a:chExt cx="5113020" cy="561975"/>
            </a:xfrm>
          </p:grpSpPr>
          <p:sp>
            <p:nvSpPr>
              <p:cNvPr id="169" name="Text 65">
                <a:extLst>
                  <a:ext uri="{FF2B5EF4-FFF2-40B4-BE49-F238E27FC236}">
                    <a16:creationId xmlns:a16="http://schemas.microsoft.com/office/drawing/2014/main" id="{23997251-4788-C94A-7720-B8790A1315C1}"/>
                  </a:ext>
                </a:extLst>
              </p:cNvPr>
              <p:cNvSpPr/>
              <p:nvPr/>
            </p:nvSpPr>
            <p:spPr>
              <a:xfrm>
                <a:off x="1047750" y="8022907"/>
                <a:ext cx="5113020" cy="29718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1800" b="1" dirty="0">
                    <a:solidFill>
                      <a:srgbClr val="1A1A1A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Modelo indisponível</a:t>
                </a:r>
                <a:endParaRPr lang="en-US" sz="1800" dirty="0"/>
              </a:p>
            </p:txBody>
          </p:sp>
          <p:sp>
            <p:nvSpPr>
              <p:cNvPr id="171" name="Text 66">
                <a:extLst>
                  <a:ext uri="{FF2B5EF4-FFF2-40B4-BE49-F238E27FC236}">
                    <a16:creationId xmlns:a16="http://schemas.microsoft.com/office/drawing/2014/main" id="{E1D72FE9-E5A9-E1B5-305F-9BCE58C67B88}"/>
                  </a:ext>
                </a:extLst>
              </p:cNvPr>
              <p:cNvSpPr/>
              <p:nvPr/>
            </p:nvSpPr>
            <p:spPr>
              <a:xfrm>
                <a:off x="1047750" y="8310562"/>
                <a:ext cx="5113020" cy="27432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lnSpcReduction="10000"/>
              </a:bodyPr>
              <a:lstStyle/>
              <a:p>
                <a:pPr marL="0" indent="0" algn="l">
                  <a:buNone/>
                </a:pPr>
                <a:r>
                  <a:rPr lang="en-US" sz="1575" dirty="0">
                    <a:solidFill>
                      <a:srgbClr val="9A9A98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Falha/timeout na redação</a:t>
                </a:r>
                <a:endParaRPr lang="en-US" sz="1575" dirty="0"/>
              </a:p>
            </p:txBody>
          </p:sp>
        </p:grpSp>
        <p:sp>
          <p:nvSpPr>
            <p:cNvPr id="177" name="Text 69">
              <a:extLst>
                <a:ext uri="{FF2B5EF4-FFF2-40B4-BE49-F238E27FC236}">
                  <a16:creationId xmlns:a16="http://schemas.microsoft.com/office/drawing/2014/main" id="{C952575C-5F12-594B-44D6-7E3253EBBBB3}"/>
                </a:ext>
              </a:extLst>
            </p:cNvPr>
            <p:cNvSpPr/>
            <p:nvPr/>
          </p:nvSpPr>
          <p:spPr>
            <a:xfrm>
              <a:off x="6115050" y="8159115"/>
              <a:ext cx="2582990" cy="2895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725" dirty="0">
                  <a:solidFill>
                    <a:srgbClr val="9A9A9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—</a:t>
              </a:r>
              <a:endParaRPr lang="en-US" sz="1725" dirty="0"/>
            </a:p>
          </p:txBody>
        </p:sp>
        <p:sp>
          <p:nvSpPr>
            <p:cNvPr id="183" name="Text 72">
              <a:extLst>
                <a:ext uri="{FF2B5EF4-FFF2-40B4-BE49-F238E27FC236}">
                  <a16:creationId xmlns:a16="http://schemas.microsoft.com/office/drawing/2014/main" id="{A318FD26-359C-8AF1-8EA2-C246706061B0}"/>
                </a:ext>
              </a:extLst>
            </p:cNvPr>
            <p:cNvSpPr/>
            <p:nvPr/>
          </p:nvSpPr>
          <p:spPr>
            <a:xfrm>
              <a:off x="9029700" y="8159115"/>
              <a:ext cx="2582990" cy="2895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725" dirty="0">
                  <a:solidFill>
                    <a:srgbClr val="9A9A9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—</a:t>
              </a:r>
              <a:endParaRPr lang="en-US" sz="1725" dirty="0"/>
            </a:p>
          </p:txBody>
        </p:sp>
        <p:sp>
          <p:nvSpPr>
            <p:cNvPr id="189" name="Text 75">
              <a:extLst>
                <a:ext uri="{FF2B5EF4-FFF2-40B4-BE49-F238E27FC236}">
                  <a16:creationId xmlns:a16="http://schemas.microsoft.com/office/drawing/2014/main" id="{F7E7C412-AB99-BB9D-1AF5-6BDAAA6A5A32}"/>
                </a:ext>
              </a:extLst>
            </p:cNvPr>
            <p:cNvSpPr/>
            <p:nvPr/>
          </p:nvSpPr>
          <p:spPr>
            <a:xfrm>
              <a:off x="11944350" y="8159115"/>
              <a:ext cx="5461063" cy="28956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725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Recomendação determinística persistida</a:t>
              </a:r>
              <a:endParaRPr lang="en-US" sz="1725" dirty="0"/>
            </a:p>
          </p:txBody>
        </p:sp>
      </p:grpSp>
      <p:sp>
        <p:nvSpPr>
          <p:cNvPr id="191" name="Shape 76">
            <a:extLst>
              <a:ext uri="{FF2B5EF4-FFF2-40B4-BE49-F238E27FC236}">
                <a16:creationId xmlns:a16="http://schemas.microsoft.com/office/drawing/2014/main" id="{EBFA58B3-7F0D-0831-390E-128773154DAB}"/>
              </a:ext>
            </a:extLst>
          </p:cNvPr>
          <p:cNvSpPr/>
          <p:nvPr/>
        </p:nvSpPr>
        <p:spPr>
          <a:xfrm>
            <a:off x="1047750" y="9003030"/>
            <a:ext cx="16192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7" name="Shape 4">
            <a:extLst>
              <a:ext uri="{FF2B5EF4-FFF2-40B4-BE49-F238E27FC236}">
                <a16:creationId xmlns:a16="http://schemas.microsoft.com/office/drawing/2014/main" id="{445B8554-3769-9FDF-58B6-65DF2B88150A}"/>
              </a:ext>
            </a:extLst>
          </p:cNvPr>
          <p:cNvSpPr/>
          <p:nvPr/>
        </p:nvSpPr>
        <p:spPr>
          <a:xfrm>
            <a:off x="1047750" y="8727120"/>
            <a:ext cx="16192500" cy="152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9" name="Shape 9">
            <a:extLst>
              <a:ext uri="{FF2B5EF4-FFF2-40B4-BE49-F238E27FC236}">
                <a16:creationId xmlns:a16="http://schemas.microsoft.com/office/drawing/2014/main" id="{965458F9-46AC-B36E-9B0E-83B34909AC83}"/>
              </a:ext>
            </a:extLst>
          </p:cNvPr>
          <p:cNvSpPr/>
          <p:nvPr/>
        </p:nvSpPr>
        <p:spPr>
          <a:xfrm flipV="1">
            <a:off x="1047750" y="3599175"/>
            <a:ext cx="16192500" cy="10800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1" name="Shape 9">
            <a:extLst>
              <a:ext uri="{FF2B5EF4-FFF2-40B4-BE49-F238E27FC236}">
                <a16:creationId xmlns:a16="http://schemas.microsoft.com/office/drawing/2014/main" id="{9674CD80-70B9-3C52-699C-F8465EF39D60}"/>
              </a:ext>
            </a:extLst>
          </p:cNvPr>
          <p:cNvSpPr/>
          <p:nvPr/>
        </p:nvSpPr>
        <p:spPr>
          <a:xfrm flipV="1">
            <a:off x="1047750" y="4448489"/>
            <a:ext cx="16192500" cy="10800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3" name="Shape 9">
            <a:extLst>
              <a:ext uri="{FF2B5EF4-FFF2-40B4-BE49-F238E27FC236}">
                <a16:creationId xmlns:a16="http://schemas.microsoft.com/office/drawing/2014/main" id="{EB7EFD19-42B7-6413-B483-09710C45F7CB}"/>
              </a:ext>
            </a:extLst>
          </p:cNvPr>
          <p:cNvSpPr/>
          <p:nvPr/>
        </p:nvSpPr>
        <p:spPr>
          <a:xfrm flipV="1">
            <a:off x="1047750" y="5315263"/>
            <a:ext cx="16192500" cy="10800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5" name="Shape 9">
            <a:extLst>
              <a:ext uri="{FF2B5EF4-FFF2-40B4-BE49-F238E27FC236}">
                <a16:creationId xmlns:a16="http://schemas.microsoft.com/office/drawing/2014/main" id="{5255E9F1-7843-BE5E-6BB8-496410F22C89}"/>
              </a:ext>
            </a:extLst>
          </p:cNvPr>
          <p:cNvSpPr/>
          <p:nvPr/>
        </p:nvSpPr>
        <p:spPr>
          <a:xfrm flipV="1">
            <a:off x="1047750" y="7028173"/>
            <a:ext cx="16192500" cy="10800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7" name="Shape 9">
            <a:extLst>
              <a:ext uri="{FF2B5EF4-FFF2-40B4-BE49-F238E27FC236}">
                <a16:creationId xmlns:a16="http://schemas.microsoft.com/office/drawing/2014/main" id="{59B03333-46F1-CA67-7352-BF5379BE3C4A}"/>
              </a:ext>
            </a:extLst>
          </p:cNvPr>
          <p:cNvSpPr/>
          <p:nvPr/>
        </p:nvSpPr>
        <p:spPr>
          <a:xfrm flipV="1">
            <a:off x="1047750" y="7886062"/>
            <a:ext cx="16192500" cy="10800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85231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24830A-5D4E-0853-7D46-58587BD62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3FB96E-2311-2271-7AA6-B90F9921091D}"/>
              </a:ext>
            </a:extLst>
          </p:cNvPr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40D0728-4DDD-C067-1B7F-8AF1AC6988DD}"/>
              </a:ext>
            </a:extLst>
          </p:cNvPr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F143B44-45E2-88B2-DDD3-EA33581EF248}"/>
              </a:ext>
            </a:extLst>
          </p:cNvPr>
          <p:cNvSpPr/>
          <p:nvPr/>
        </p:nvSpPr>
        <p:spPr>
          <a:xfrm>
            <a:off x="2330797" y="857250"/>
            <a:ext cx="28148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BFB32B-E8BD-74C9-77C2-CF74662B73B6}"/>
              </a:ext>
            </a:extLst>
          </p:cNvPr>
          <p:cNvSpPr/>
          <p:nvPr/>
        </p:nvSpPr>
        <p:spPr>
          <a:xfrm>
            <a:off x="1238250" y="1314450"/>
            <a:ext cx="173926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pt-BR" sz="4500" b="1" kern="0" spc="-2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PONTA A PONTA · ANOMALIA HÍDRICA</a:t>
            </a:r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9394E1CD-BBF5-6280-445A-348448A41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21" name="Text 20">
            <a:extLst>
              <a:ext uri="{FF2B5EF4-FFF2-40B4-BE49-F238E27FC236}">
                <a16:creationId xmlns:a16="http://schemas.microsoft.com/office/drawing/2014/main" id="{D6AA1845-5E8A-CCE6-3019-4E6B719E6AF4}"/>
              </a:ext>
            </a:extLst>
          </p:cNvPr>
          <p:cNvSpPr/>
          <p:nvPr/>
        </p:nvSpPr>
        <p:spPr>
          <a:xfrm>
            <a:off x="1231722" y="9265024"/>
            <a:ext cx="139484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pt-BR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6 – VALORES DEFINIDOS NO SIMULADOR PARA VALIDAÇÃO</a:t>
            </a:r>
          </a:p>
        </p:txBody>
      </p:sp>
      <p:sp>
        <p:nvSpPr>
          <p:cNvPr id="191" name="Shape 76">
            <a:extLst>
              <a:ext uri="{FF2B5EF4-FFF2-40B4-BE49-F238E27FC236}">
                <a16:creationId xmlns:a16="http://schemas.microsoft.com/office/drawing/2014/main" id="{44566F39-0F88-F741-7D6D-3A8D624AAB2A}"/>
              </a:ext>
            </a:extLst>
          </p:cNvPr>
          <p:cNvSpPr/>
          <p:nvPr/>
        </p:nvSpPr>
        <p:spPr>
          <a:xfrm>
            <a:off x="1047750" y="9003030"/>
            <a:ext cx="16192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grpSp>
        <p:nvGrpSpPr>
          <p:cNvPr id="252" name="Agrupar 251">
            <a:extLst>
              <a:ext uri="{FF2B5EF4-FFF2-40B4-BE49-F238E27FC236}">
                <a16:creationId xmlns:a16="http://schemas.microsoft.com/office/drawing/2014/main" id="{2CB33397-71E7-2169-EFC5-DC9EF36503D5}"/>
              </a:ext>
            </a:extLst>
          </p:cNvPr>
          <p:cNvGrpSpPr/>
          <p:nvPr/>
        </p:nvGrpSpPr>
        <p:grpSpPr>
          <a:xfrm>
            <a:off x="1047750" y="3139439"/>
            <a:ext cx="16192500" cy="895350"/>
            <a:chOff x="1231722" y="2328862"/>
            <a:chExt cx="16192500" cy="895350"/>
          </a:xfrm>
        </p:grpSpPr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4401C6B5-375C-D304-28C7-4A704959FCB0}"/>
                </a:ext>
              </a:extLst>
            </p:cNvPr>
            <p:cNvSpPr/>
            <p:nvPr/>
          </p:nvSpPr>
          <p:spPr>
            <a:xfrm>
              <a:off x="1231722" y="2328862"/>
              <a:ext cx="16192500" cy="895350"/>
            </a:xfrm>
            <a:prstGeom prst="rect">
              <a:avLst/>
            </a:prstGeom>
            <a:solidFill>
              <a:srgbClr val="FAFAF9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Shape 5">
              <a:extLst>
                <a:ext uri="{FF2B5EF4-FFF2-40B4-BE49-F238E27FC236}">
                  <a16:creationId xmlns:a16="http://schemas.microsoft.com/office/drawing/2014/main" id="{72C307A7-712D-65C8-49F7-87A8A806D18D}"/>
                </a:ext>
              </a:extLst>
            </p:cNvPr>
            <p:cNvSpPr/>
            <p:nvPr/>
          </p:nvSpPr>
          <p:spPr>
            <a:xfrm>
              <a:off x="1231722" y="2328862"/>
              <a:ext cx="36000" cy="895350"/>
            </a:xfrm>
            <a:prstGeom prst="rect">
              <a:avLst/>
            </a:prstGeom>
            <a:solidFill>
              <a:srgbClr val="1B53A6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6" name="Shape 6">
              <a:extLst>
                <a:ext uri="{FF2B5EF4-FFF2-40B4-BE49-F238E27FC236}">
                  <a16:creationId xmlns:a16="http://schemas.microsoft.com/office/drawing/2014/main" id="{2C7A2AC1-A8F7-50D3-EA96-5F6FBBC7A28E}"/>
                </a:ext>
              </a:extLst>
            </p:cNvPr>
            <p:cNvSpPr/>
            <p:nvPr/>
          </p:nvSpPr>
          <p:spPr>
            <a:xfrm>
              <a:off x="3744536" y="2328862"/>
              <a:ext cx="9525" cy="895350"/>
            </a:xfrm>
            <a:prstGeom prst="rect">
              <a:avLst/>
            </a:prstGeom>
            <a:solidFill>
              <a:srgbClr val="E6E6E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13A021E9-49A8-C2A4-9015-0C0312A657CA}"/>
                </a:ext>
              </a:extLst>
            </p:cNvPr>
            <p:cNvSpPr/>
            <p:nvPr/>
          </p:nvSpPr>
          <p:spPr>
            <a:xfrm>
              <a:off x="1540332" y="2500312"/>
              <a:ext cx="2110300" cy="259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500" b="1" kern="0" spc="150" dirty="0">
                  <a:solidFill>
                    <a:srgbClr val="9A9A9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SENSOR</a:t>
              </a:r>
              <a:endParaRPr lang="en-US" sz="1500" dirty="0"/>
            </a:p>
          </p:txBody>
        </p:sp>
        <p:sp>
          <p:nvSpPr>
            <p:cNvPr id="24" name="Text 8">
              <a:extLst>
                <a:ext uri="{FF2B5EF4-FFF2-40B4-BE49-F238E27FC236}">
                  <a16:creationId xmlns:a16="http://schemas.microsoft.com/office/drawing/2014/main" id="{1D5ED65B-C4A0-8CFB-C029-06961E07D70B}"/>
                </a:ext>
              </a:extLst>
            </p:cNvPr>
            <p:cNvSpPr/>
            <p:nvPr/>
          </p:nvSpPr>
          <p:spPr>
            <a:xfrm>
              <a:off x="1540332" y="2778442"/>
              <a:ext cx="2110300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75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Umidade do solo</a:t>
              </a:r>
              <a:endParaRPr lang="en-US" sz="1875" dirty="0"/>
            </a:p>
          </p:txBody>
        </p:sp>
        <p:sp>
          <p:nvSpPr>
            <p:cNvPr id="27" name="Shape 9">
              <a:extLst>
                <a:ext uri="{FF2B5EF4-FFF2-40B4-BE49-F238E27FC236}">
                  <a16:creationId xmlns:a16="http://schemas.microsoft.com/office/drawing/2014/main" id="{C5A7DBD6-E96F-558F-46E0-E4738E0D2B58}"/>
                </a:ext>
              </a:extLst>
            </p:cNvPr>
            <p:cNvSpPr/>
            <p:nvPr/>
          </p:nvSpPr>
          <p:spPr>
            <a:xfrm>
              <a:off x="5995056" y="2328862"/>
              <a:ext cx="9525" cy="895350"/>
            </a:xfrm>
            <a:prstGeom prst="rect">
              <a:avLst/>
            </a:prstGeom>
            <a:solidFill>
              <a:srgbClr val="E6E6E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Text 10">
              <a:extLst>
                <a:ext uri="{FF2B5EF4-FFF2-40B4-BE49-F238E27FC236}">
                  <a16:creationId xmlns:a16="http://schemas.microsoft.com/office/drawing/2014/main" id="{71DF59A2-E8F2-A19E-AFBF-0DEAF222424E}"/>
                </a:ext>
              </a:extLst>
            </p:cNvPr>
            <p:cNvSpPr/>
            <p:nvPr/>
          </p:nvSpPr>
          <p:spPr>
            <a:xfrm>
              <a:off x="4037906" y="2500312"/>
              <a:ext cx="1838539" cy="259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500" b="1" kern="0" spc="150" dirty="0">
                  <a:solidFill>
                    <a:srgbClr val="9A9A9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FAIXA NORMAL</a:t>
              </a:r>
              <a:endParaRPr lang="en-US" sz="1500" dirty="0"/>
            </a:p>
          </p:txBody>
        </p:sp>
        <p:sp>
          <p:nvSpPr>
            <p:cNvPr id="31" name="Text 11">
              <a:extLst>
                <a:ext uri="{FF2B5EF4-FFF2-40B4-BE49-F238E27FC236}">
                  <a16:creationId xmlns:a16="http://schemas.microsoft.com/office/drawing/2014/main" id="{9EB627E1-D367-4F9B-F804-975EC04964D6}"/>
                </a:ext>
              </a:extLst>
            </p:cNvPr>
            <p:cNvSpPr/>
            <p:nvPr/>
          </p:nvSpPr>
          <p:spPr>
            <a:xfrm>
              <a:off x="4037906" y="2778442"/>
              <a:ext cx="1838539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75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40 a 70 %</a:t>
              </a:r>
              <a:endParaRPr lang="en-US" sz="1875" dirty="0"/>
            </a:p>
          </p:txBody>
        </p:sp>
        <p:sp>
          <p:nvSpPr>
            <p:cNvPr id="34" name="Shape 12">
              <a:extLst>
                <a:ext uri="{FF2B5EF4-FFF2-40B4-BE49-F238E27FC236}">
                  <a16:creationId xmlns:a16="http://schemas.microsoft.com/office/drawing/2014/main" id="{4820DB83-61CF-9619-60F9-D5E6DC01F74F}"/>
                </a:ext>
              </a:extLst>
            </p:cNvPr>
            <p:cNvSpPr/>
            <p:nvPr/>
          </p:nvSpPr>
          <p:spPr>
            <a:xfrm>
              <a:off x="8562400" y="2328862"/>
              <a:ext cx="9525" cy="895350"/>
            </a:xfrm>
            <a:prstGeom prst="rect">
              <a:avLst/>
            </a:prstGeom>
            <a:solidFill>
              <a:srgbClr val="E6E6E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Text 13">
              <a:extLst>
                <a:ext uri="{FF2B5EF4-FFF2-40B4-BE49-F238E27FC236}">
                  <a16:creationId xmlns:a16="http://schemas.microsoft.com/office/drawing/2014/main" id="{DE9DB2AB-3640-ED83-DC3A-A3B3D805BD02}"/>
                </a:ext>
              </a:extLst>
            </p:cNvPr>
            <p:cNvSpPr/>
            <p:nvPr/>
          </p:nvSpPr>
          <p:spPr>
            <a:xfrm>
              <a:off x="6288426" y="2500312"/>
              <a:ext cx="2187047" cy="259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500" b="1" kern="0" spc="150" dirty="0">
                  <a:solidFill>
                    <a:srgbClr val="9A9A9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VALOR SIMULADO</a:t>
              </a:r>
              <a:endParaRPr lang="en-US" sz="1500" dirty="0"/>
            </a:p>
          </p:txBody>
        </p:sp>
        <p:sp>
          <p:nvSpPr>
            <p:cNvPr id="38" name="Text 14">
              <a:extLst>
                <a:ext uri="{FF2B5EF4-FFF2-40B4-BE49-F238E27FC236}">
                  <a16:creationId xmlns:a16="http://schemas.microsoft.com/office/drawing/2014/main" id="{79442528-3A24-69A0-720D-00FC4D4A8C6F}"/>
                </a:ext>
              </a:extLst>
            </p:cNvPr>
            <p:cNvSpPr/>
            <p:nvPr/>
          </p:nvSpPr>
          <p:spPr>
            <a:xfrm>
              <a:off x="6288426" y="2778442"/>
              <a:ext cx="2187047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75" b="1" dirty="0">
                  <a:solidFill>
                    <a:srgbClr val="1B53A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15 %</a:t>
              </a:r>
              <a:endParaRPr lang="en-US" sz="1875" dirty="0"/>
            </a:p>
          </p:txBody>
        </p:sp>
        <p:sp>
          <p:nvSpPr>
            <p:cNvPr id="41" name="Text 15">
              <a:extLst>
                <a:ext uri="{FF2B5EF4-FFF2-40B4-BE49-F238E27FC236}">
                  <a16:creationId xmlns:a16="http://schemas.microsoft.com/office/drawing/2014/main" id="{6B03C7E8-556E-6568-FAC1-6B5EAC892851}"/>
                </a:ext>
              </a:extLst>
            </p:cNvPr>
            <p:cNvSpPr/>
            <p:nvPr/>
          </p:nvSpPr>
          <p:spPr>
            <a:xfrm>
              <a:off x="8855770" y="2500312"/>
              <a:ext cx="2627495" cy="259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500" b="1" kern="0" spc="150" dirty="0">
                  <a:solidFill>
                    <a:srgbClr val="9A9A9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CLASSIFICAÇÃO</a:t>
              </a:r>
              <a:endParaRPr lang="en-US" sz="1500" dirty="0"/>
            </a:p>
          </p:txBody>
        </p:sp>
        <p:sp>
          <p:nvSpPr>
            <p:cNvPr id="43" name="Text 16">
              <a:extLst>
                <a:ext uri="{FF2B5EF4-FFF2-40B4-BE49-F238E27FC236}">
                  <a16:creationId xmlns:a16="http://schemas.microsoft.com/office/drawing/2014/main" id="{9A4522D2-A810-7E1E-D2E0-AC668C44C072}"/>
                </a:ext>
              </a:extLst>
            </p:cNvPr>
            <p:cNvSpPr/>
            <p:nvPr/>
          </p:nvSpPr>
          <p:spPr>
            <a:xfrm>
              <a:off x="8855770" y="2778442"/>
              <a:ext cx="2627495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75" b="1" dirty="0">
                  <a:solidFill>
                    <a:srgbClr val="1B53A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Risco (umidade &lt; 25)</a:t>
              </a:r>
              <a:endParaRPr lang="en-US" sz="1875" dirty="0"/>
            </a:p>
          </p:txBody>
        </p:sp>
      </p:grpSp>
      <p:grpSp>
        <p:nvGrpSpPr>
          <p:cNvPr id="253" name="Agrupar 252">
            <a:extLst>
              <a:ext uri="{FF2B5EF4-FFF2-40B4-BE49-F238E27FC236}">
                <a16:creationId xmlns:a16="http://schemas.microsoft.com/office/drawing/2014/main" id="{ADA4EF06-7436-B608-E85A-954E4488DFCE}"/>
              </a:ext>
            </a:extLst>
          </p:cNvPr>
          <p:cNvGrpSpPr/>
          <p:nvPr/>
        </p:nvGrpSpPr>
        <p:grpSpPr>
          <a:xfrm>
            <a:off x="1047750" y="4418965"/>
            <a:ext cx="16192500" cy="895350"/>
            <a:chOff x="1238250" y="3538536"/>
            <a:chExt cx="16192500" cy="895350"/>
          </a:xfrm>
        </p:grpSpPr>
        <p:sp>
          <p:nvSpPr>
            <p:cNvPr id="143" name="Shape 4">
              <a:extLst>
                <a:ext uri="{FF2B5EF4-FFF2-40B4-BE49-F238E27FC236}">
                  <a16:creationId xmlns:a16="http://schemas.microsoft.com/office/drawing/2014/main" id="{DC7F0437-55A8-9424-77E6-D3D7ED8C4392}"/>
                </a:ext>
              </a:extLst>
            </p:cNvPr>
            <p:cNvSpPr/>
            <p:nvPr/>
          </p:nvSpPr>
          <p:spPr>
            <a:xfrm>
              <a:off x="1238250" y="3538536"/>
              <a:ext cx="16192500" cy="895350"/>
            </a:xfrm>
            <a:prstGeom prst="rect">
              <a:avLst/>
            </a:prstGeom>
            <a:solidFill>
              <a:srgbClr val="FAFAF9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46" name="Shape 5">
              <a:extLst>
                <a:ext uri="{FF2B5EF4-FFF2-40B4-BE49-F238E27FC236}">
                  <a16:creationId xmlns:a16="http://schemas.microsoft.com/office/drawing/2014/main" id="{00DD0D28-5255-1592-F387-32C4F7899534}"/>
                </a:ext>
              </a:extLst>
            </p:cNvPr>
            <p:cNvSpPr/>
            <p:nvPr/>
          </p:nvSpPr>
          <p:spPr>
            <a:xfrm>
              <a:off x="1238250" y="3538536"/>
              <a:ext cx="36000" cy="895350"/>
            </a:xfrm>
            <a:prstGeom prst="rect">
              <a:avLst/>
            </a:prstGeom>
            <a:solidFill>
              <a:srgbClr val="1B53A6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48" name="Shape 6">
              <a:extLst>
                <a:ext uri="{FF2B5EF4-FFF2-40B4-BE49-F238E27FC236}">
                  <a16:creationId xmlns:a16="http://schemas.microsoft.com/office/drawing/2014/main" id="{F77ED17D-D340-6C3F-5F5F-B693C8AE3786}"/>
                </a:ext>
              </a:extLst>
            </p:cNvPr>
            <p:cNvSpPr/>
            <p:nvPr/>
          </p:nvSpPr>
          <p:spPr>
            <a:xfrm>
              <a:off x="3751064" y="3538536"/>
              <a:ext cx="9525" cy="895350"/>
            </a:xfrm>
            <a:prstGeom prst="rect">
              <a:avLst/>
            </a:prstGeom>
            <a:solidFill>
              <a:srgbClr val="E6E6E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52" name="Text 7">
              <a:extLst>
                <a:ext uri="{FF2B5EF4-FFF2-40B4-BE49-F238E27FC236}">
                  <a16:creationId xmlns:a16="http://schemas.microsoft.com/office/drawing/2014/main" id="{E531487F-572C-DC81-F754-84506DCF1E82}"/>
                </a:ext>
              </a:extLst>
            </p:cNvPr>
            <p:cNvSpPr/>
            <p:nvPr/>
          </p:nvSpPr>
          <p:spPr>
            <a:xfrm>
              <a:off x="1546860" y="3709986"/>
              <a:ext cx="2110300" cy="259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500" b="1" kern="0" spc="150" dirty="0">
                  <a:solidFill>
                    <a:srgbClr val="9A9A9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SENSOR</a:t>
              </a:r>
              <a:endParaRPr lang="en-US" sz="1500" dirty="0"/>
            </a:p>
          </p:txBody>
        </p:sp>
        <p:sp>
          <p:nvSpPr>
            <p:cNvPr id="154" name="Text 8">
              <a:extLst>
                <a:ext uri="{FF2B5EF4-FFF2-40B4-BE49-F238E27FC236}">
                  <a16:creationId xmlns:a16="http://schemas.microsoft.com/office/drawing/2014/main" id="{8CE6FEF2-3139-1BE7-0DD2-3ACCDB73CEEF}"/>
                </a:ext>
              </a:extLst>
            </p:cNvPr>
            <p:cNvSpPr/>
            <p:nvPr/>
          </p:nvSpPr>
          <p:spPr>
            <a:xfrm>
              <a:off x="1546860" y="3988116"/>
              <a:ext cx="2110300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75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Temp. do solo</a:t>
              </a:r>
              <a:endParaRPr lang="en-US" sz="1875" dirty="0"/>
            </a:p>
          </p:txBody>
        </p:sp>
        <p:sp>
          <p:nvSpPr>
            <p:cNvPr id="157" name="Shape 9">
              <a:extLst>
                <a:ext uri="{FF2B5EF4-FFF2-40B4-BE49-F238E27FC236}">
                  <a16:creationId xmlns:a16="http://schemas.microsoft.com/office/drawing/2014/main" id="{3314676E-F0E5-C742-F9A7-2B53D17FA25A}"/>
                </a:ext>
              </a:extLst>
            </p:cNvPr>
            <p:cNvSpPr/>
            <p:nvPr/>
          </p:nvSpPr>
          <p:spPr>
            <a:xfrm>
              <a:off x="6001584" y="3538536"/>
              <a:ext cx="9525" cy="895350"/>
            </a:xfrm>
            <a:prstGeom prst="rect">
              <a:avLst/>
            </a:prstGeom>
            <a:solidFill>
              <a:srgbClr val="E6E6E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60" name="Text 10">
              <a:extLst>
                <a:ext uri="{FF2B5EF4-FFF2-40B4-BE49-F238E27FC236}">
                  <a16:creationId xmlns:a16="http://schemas.microsoft.com/office/drawing/2014/main" id="{412C213B-3A78-D902-E0F2-E03C9E5349BE}"/>
                </a:ext>
              </a:extLst>
            </p:cNvPr>
            <p:cNvSpPr/>
            <p:nvPr/>
          </p:nvSpPr>
          <p:spPr>
            <a:xfrm>
              <a:off x="4044434" y="3709986"/>
              <a:ext cx="1838539" cy="259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500" b="1" kern="0" spc="150" dirty="0">
                  <a:solidFill>
                    <a:srgbClr val="9A9A9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FAIXA NORMAL</a:t>
              </a:r>
              <a:endParaRPr lang="en-US" sz="1500" dirty="0"/>
            </a:p>
          </p:txBody>
        </p:sp>
        <p:sp>
          <p:nvSpPr>
            <p:cNvPr id="162" name="Text 11">
              <a:extLst>
                <a:ext uri="{FF2B5EF4-FFF2-40B4-BE49-F238E27FC236}">
                  <a16:creationId xmlns:a16="http://schemas.microsoft.com/office/drawing/2014/main" id="{BDF1B49F-8909-E2B1-D8BB-7C66640B1A82}"/>
                </a:ext>
              </a:extLst>
            </p:cNvPr>
            <p:cNvSpPr/>
            <p:nvPr/>
          </p:nvSpPr>
          <p:spPr>
            <a:xfrm>
              <a:off x="4044434" y="3988116"/>
              <a:ext cx="1838539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75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18°C a 28°C</a:t>
              </a:r>
              <a:endParaRPr lang="en-US" sz="1875" dirty="0"/>
            </a:p>
          </p:txBody>
        </p:sp>
        <p:sp>
          <p:nvSpPr>
            <p:cNvPr id="165" name="Shape 12">
              <a:extLst>
                <a:ext uri="{FF2B5EF4-FFF2-40B4-BE49-F238E27FC236}">
                  <a16:creationId xmlns:a16="http://schemas.microsoft.com/office/drawing/2014/main" id="{A1EB69F3-8DC9-0106-0E6A-6FAA826974A4}"/>
                </a:ext>
              </a:extLst>
            </p:cNvPr>
            <p:cNvSpPr/>
            <p:nvPr/>
          </p:nvSpPr>
          <p:spPr>
            <a:xfrm>
              <a:off x="8568928" y="3538536"/>
              <a:ext cx="9525" cy="895350"/>
            </a:xfrm>
            <a:prstGeom prst="rect">
              <a:avLst/>
            </a:prstGeom>
            <a:solidFill>
              <a:srgbClr val="E6E6E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67" name="Text 13">
              <a:extLst>
                <a:ext uri="{FF2B5EF4-FFF2-40B4-BE49-F238E27FC236}">
                  <a16:creationId xmlns:a16="http://schemas.microsoft.com/office/drawing/2014/main" id="{B70BB6BA-6969-B0BD-F006-653A2F39B521}"/>
                </a:ext>
              </a:extLst>
            </p:cNvPr>
            <p:cNvSpPr/>
            <p:nvPr/>
          </p:nvSpPr>
          <p:spPr>
            <a:xfrm>
              <a:off x="6294954" y="3709986"/>
              <a:ext cx="2187047" cy="259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500" b="1" kern="0" spc="150" dirty="0">
                  <a:solidFill>
                    <a:srgbClr val="9A9A9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VALOR SIMULADO</a:t>
              </a:r>
              <a:endParaRPr lang="en-US" sz="1500" dirty="0"/>
            </a:p>
          </p:txBody>
        </p:sp>
        <p:sp>
          <p:nvSpPr>
            <p:cNvPr id="170" name="Text 14">
              <a:extLst>
                <a:ext uri="{FF2B5EF4-FFF2-40B4-BE49-F238E27FC236}">
                  <a16:creationId xmlns:a16="http://schemas.microsoft.com/office/drawing/2014/main" id="{7F3CCBEF-8E23-4DE2-9A35-C6CF03F1AC73}"/>
                </a:ext>
              </a:extLst>
            </p:cNvPr>
            <p:cNvSpPr/>
            <p:nvPr/>
          </p:nvSpPr>
          <p:spPr>
            <a:xfrm>
              <a:off x="6294954" y="3988116"/>
              <a:ext cx="2187047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75" b="1" dirty="0">
                  <a:solidFill>
                    <a:srgbClr val="1B53A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23 °C</a:t>
              </a:r>
              <a:endParaRPr lang="en-US" sz="1875" dirty="0"/>
            </a:p>
          </p:txBody>
        </p:sp>
        <p:sp>
          <p:nvSpPr>
            <p:cNvPr id="173" name="Text 15">
              <a:extLst>
                <a:ext uri="{FF2B5EF4-FFF2-40B4-BE49-F238E27FC236}">
                  <a16:creationId xmlns:a16="http://schemas.microsoft.com/office/drawing/2014/main" id="{70F3A116-C7A8-3ED5-C645-591069C75CF2}"/>
                </a:ext>
              </a:extLst>
            </p:cNvPr>
            <p:cNvSpPr/>
            <p:nvPr/>
          </p:nvSpPr>
          <p:spPr>
            <a:xfrm>
              <a:off x="8862298" y="3709986"/>
              <a:ext cx="2627495" cy="259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r>
                <a:rPr lang="en-US" sz="1500" b="1" kern="0" spc="150" dirty="0">
                  <a:solidFill>
                    <a:srgbClr val="9A9A9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CLASSIFICAÇÃO</a:t>
              </a:r>
              <a:endParaRPr lang="en-US" sz="1500" dirty="0"/>
            </a:p>
          </p:txBody>
        </p:sp>
        <p:sp>
          <p:nvSpPr>
            <p:cNvPr id="175" name="Text 16">
              <a:extLst>
                <a:ext uri="{FF2B5EF4-FFF2-40B4-BE49-F238E27FC236}">
                  <a16:creationId xmlns:a16="http://schemas.microsoft.com/office/drawing/2014/main" id="{8C7CDC62-7BC2-CE1A-3DE7-DCCAD9584CA7}"/>
                </a:ext>
              </a:extLst>
            </p:cNvPr>
            <p:cNvSpPr/>
            <p:nvPr/>
          </p:nvSpPr>
          <p:spPr>
            <a:xfrm>
              <a:off x="8862298" y="3988116"/>
              <a:ext cx="2627495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75" b="1" dirty="0">
                  <a:solidFill>
                    <a:srgbClr val="1B53A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Normal</a:t>
              </a:r>
              <a:endParaRPr lang="en-US" sz="1875" dirty="0"/>
            </a:p>
          </p:txBody>
        </p:sp>
      </p:grpSp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08F7A770-E6E0-F061-5FAE-5E6A7362676D}"/>
              </a:ext>
            </a:extLst>
          </p:cNvPr>
          <p:cNvGrpSpPr/>
          <p:nvPr/>
        </p:nvGrpSpPr>
        <p:grpSpPr>
          <a:xfrm>
            <a:off x="1047750" y="5698491"/>
            <a:ext cx="16192500" cy="895350"/>
            <a:chOff x="1261110" y="4748210"/>
            <a:chExt cx="16192500" cy="895350"/>
          </a:xfrm>
        </p:grpSpPr>
        <p:sp>
          <p:nvSpPr>
            <p:cNvPr id="178" name="Shape 4">
              <a:extLst>
                <a:ext uri="{FF2B5EF4-FFF2-40B4-BE49-F238E27FC236}">
                  <a16:creationId xmlns:a16="http://schemas.microsoft.com/office/drawing/2014/main" id="{7FA17277-9EA6-364B-4332-8BB753F30A84}"/>
                </a:ext>
              </a:extLst>
            </p:cNvPr>
            <p:cNvSpPr/>
            <p:nvPr/>
          </p:nvSpPr>
          <p:spPr>
            <a:xfrm>
              <a:off x="1261110" y="4748210"/>
              <a:ext cx="16192500" cy="895350"/>
            </a:xfrm>
            <a:prstGeom prst="rect">
              <a:avLst/>
            </a:prstGeom>
            <a:solidFill>
              <a:srgbClr val="FAFAF9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80" name="Shape 5">
              <a:extLst>
                <a:ext uri="{FF2B5EF4-FFF2-40B4-BE49-F238E27FC236}">
                  <a16:creationId xmlns:a16="http://schemas.microsoft.com/office/drawing/2014/main" id="{9EF263CB-F65D-DE83-A5CA-4267236E99DD}"/>
                </a:ext>
              </a:extLst>
            </p:cNvPr>
            <p:cNvSpPr/>
            <p:nvPr/>
          </p:nvSpPr>
          <p:spPr>
            <a:xfrm>
              <a:off x="1261110" y="4748210"/>
              <a:ext cx="36000" cy="895350"/>
            </a:xfrm>
            <a:prstGeom prst="rect">
              <a:avLst/>
            </a:prstGeom>
            <a:solidFill>
              <a:srgbClr val="1B53A6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82" name="Shape 6">
              <a:extLst>
                <a:ext uri="{FF2B5EF4-FFF2-40B4-BE49-F238E27FC236}">
                  <a16:creationId xmlns:a16="http://schemas.microsoft.com/office/drawing/2014/main" id="{A9372911-5AD6-5F18-A7CA-28A797C48AEF}"/>
                </a:ext>
              </a:extLst>
            </p:cNvPr>
            <p:cNvSpPr/>
            <p:nvPr/>
          </p:nvSpPr>
          <p:spPr>
            <a:xfrm>
              <a:off x="3773924" y="4748210"/>
              <a:ext cx="9525" cy="895350"/>
            </a:xfrm>
            <a:prstGeom prst="rect">
              <a:avLst/>
            </a:prstGeom>
            <a:solidFill>
              <a:srgbClr val="E6E6E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85" name="Text 7">
              <a:extLst>
                <a:ext uri="{FF2B5EF4-FFF2-40B4-BE49-F238E27FC236}">
                  <a16:creationId xmlns:a16="http://schemas.microsoft.com/office/drawing/2014/main" id="{D3911641-B3BB-21BC-307F-4D6784232144}"/>
                </a:ext>
              </a:extLst>
            </p:cNvPr>
            <p:cNvSpPr/>
            <p:nvPr/>
          </p:nvSpPr>
          <p:spPr>
            <a:xfrm>
              <a:off x="1569720" y="4919660"/>
              <a:ext cx="2110300" cy="259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500" b="1" kern="0" spc="150" dirty="0">
                  <a:solidFill>
                    <a:srgbClr val="9A9A9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SENSOR</a:t>
              </a:r>
              <a:endParaRPr lang="en-US" sz="1500" dirty="0"/>
            </a:p>
          </p:txBody>
        </p:sp>
        <p:sp>
          <p:nvSpPr>
            <p:cNvPr id="187" name="Text 8">
              <a:extLst>
                <a:ext uri="{FF2B5EF4-FFF2-40B4-BE49-F238E27FC236}">
                  <a16:creationId xmlns:a16="http://schemas.microsoft.com/office/drawing/2014/main" id="{6C4CEC4B-2C69-D744-F227-7CC38D234013}"/>
                </a:ext>
              </a:extLst>
            </p:cNvPr>
            <p:cNvSpPr/>
            <p:nvPr/>
          </p:nvSpPr>
          <p:spPr>
            <a:xfrm>
              <a:off x="1569720" y="5197790"/>
              <a:ext cx="2110300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75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CO₂ do </a:t>
              </a:r>
              <a:r>
                <a:rPr lang="en-US" sz="1875" b="1" dirty="0" err="1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ar</a:t>
              </a:r>
              <a:endParaRPr lang="en-US" sz="1875" dirty="0"/>
            </a:p>
          </p:txBody>
        </p:sp>
        <p:sp>
          <p:nvSpPr>
            <p:cNvPr id="190" name="Shape 9">
              <a:extLst>
                <a:ext uri="{FF2B5EF4-FFF2-40B4-BE49-F238E27FC236}">
                  <a16:creationId xmlns:a16="http://schemas.microsoft.com/office/drawing/2014/main" id="{4911B1EB-5BC5-99C3-A362-C3857257C72F}"/>
                </a:ext>
              </a:extLst>
            </p:cNvPr>
            <p:cNvSpPr/>
            <p:nvPr/>
          </p:nvSpPr>
          <p:spPr>
            <a:xfrm>
              <a:off x="6024444" y="4748210"/>
              <a:ext cx="9525" cy="895350"/>
            </a:xfrm>
            <a:prstGeom prst="rect">
              <a:avLst/>
            </a:prstGeom>
            <a:solidFill>
              <a:srgbClr val="E6E6E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08" name="Text 10">
              <a:extLst>
                <a:ext uri="{FF2B5EF4-FFF2-40B4-BE49-F238E27FC236}">
                  <a16:creationId xmlns:a16="http://schemas.microsoft.com/office/drawing/2014/main" id="{98B8D157-ACBC-1F5E-C7F0-DC1D75F56BA4}"/>
                </a:ext>
              </a:extLst>
            </p:cNvPr>
            <p:cNvSpPr/>
            <p:nvPr/>
          </p:nvSpPr>
          <p:spPr>
            <a:xfrm>
              <a:off x="4067294" y="4919660"/>
              <a:ext cx="1838539" cy="259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500" b="1" kern="0" spc="150" dirty="0">
                  <a:solidFill>
                    <a:srgbClr val="9A9A9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FAIXA NORMAL</a:t>
              </a:r>
              <a:endParaRPr lang="en-US" sz="1500" dirty="0"/>
            </a:p>
          </p:txBody>
        </p:sp>
        <p:sp>
          <p:nvSpPr>
            <p:cNvPr id="212" name="Text 11">
              <a:extLst>
                <a:ext uri="{FF2B5EF4-FFF2-40B4-BE49-F238E27FC236}">
                  <a16:creationId xmlns:a16="http://schemas.microsoft.com/office/drawing/2014/main" id="{408E9925-5DF1-CD35-AD86-917ADFF44D8E}"/>
                </a:ext>
              </a:extLst>
            </p:cNvPr>
            <p:cNvSpPr/>
            <p:nvPr/>
          </p:nvSpPr>
          <p:spPr>
            <a:xfrm>
              <a:off x="4067294" y="5197790"/>
              <a:ext cx="1838539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75" b="1" dirty="0">
                  <a:solidFill>
                    <a:srgbClr val="1A1A1A"/>
                  </a:solidFill>
                  <a:latin typeface="Arial" pitchFamily="34" charset="0"/>
                  <a:cs typeface="Arial" pitchFamily="34" charset="-120"/>
                </a:rPr>
                <a:t>350 a 1200 ppm</a:t>
              </a:r>
              <a:endParaRPr lang="en-US" sz="1875" dirty="0"/>
            </a:p>
          </p:txBody>
        </p:sp>
        <p:sp>
          <p:nvSpPr>
            <p:cNvPr id="216" name="Shape 12">
              <a:extLst>
                <a:ext uri="{FF2B5EF4-FFF2-40B4-BE49-F238E27FC236}">
                  <a16:creationId xmlns:a16="http://schemas.microsoft.com/office/drawing/2014/main" id="{62D33B76-D7D0-861D-12C3-5AE97940A470}"/>
                </a:ext>
              </a:extLst>
            </p:cNvPr>
            <p:cNvSpPr/>
            <p:nvPr/>
          </p:nvSpPr>
          <p:spPr>
            <a:xfrm>
              <a:off x="8591788" y="4748210"/>
              <a:ext cx="9525" cy="895350"/>
            </a:xfrm>
            <a:prstGeom prst="rect">
              <a:avLst/>
            </a:prstGeom>
            <a:solidFill>
              <a:srgbClr val="E6E6E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19" name="Text 13">
              <a:extLst>
                <a:ext uri="{FF2B5EF4-FFF2-40B4-BE49-F238E27FC236}">
                  <a16:creationId xmlns:a16="http://schemas.microsoft.com/office/drawing/2014/main" id="{98700EE3-B77B-B36E-1A3D-685E8ABE459F}"/>
                </a:ext>
              </a:extLst>
            </p:cNvPr>
            <p:cNvSpPr/>
            <p:nvPr/>
          </p:nvSpPr>
          <p:spPr>
            <a:xfrm>
              <a:off x="6317814" y="4919660"/>
              <a:ext cx="2187047" cy="259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500" b="1" kern="0" spc="150" dirty="0">
                  <a:solidFill>
                    <a:srgbClr val="9A9A9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VALOR SIMULADO</a:t>
              </a:r>
              <a:endParaRPr lang="en-US" sz="1500" dirty="0"/>
            </a:p>
          </p:txBody>
        </p:sp>
        <p:sp>
          <p:nvSpPr>
            <p:cNvPr id="221" name="Text 14">
              <a:extLst>
                <a:ext uri="{FF2B5EF4-FFF2-40B4-BE49-F238E27FC236}">
                  <a16:creationId xmlns:a16="http://schemas.microsoft.com/office/drawing/2014/main" id="{2CDA8DB3-7223-F57A-2EE6-786DED1745F2}"/>
                </a:ext>
              </a:extLst>
            </p:cNvPr>
            <p:cNvSpPr/>
            <p:nvPr/>
          </p:nvSpPr>
          <p:spPr>
            <a:xfrm>
              <a:off x="6317814" y="5197790"/>
              <a:ext cx="2187047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75" b="1" dirty="0">
                  <a:solidFill>
                    <a:srgbClr val="1B53A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600 ppm</a:t>
              </a:r>
              <a:endParaRPr lang="en-US" sz="1875" dirty="0"/>
            </a:p>
          </p:txBody>
        </p:sp>
        <p:sp>
          <p:nvSpPr>
            <p:cNvPr id="223" name="Text 15">
              <a:extLst>
                <a:ext uri="{FF2B5EF4-FFF2-40B4-BE49-F238E27FC236}">
                  <a16:creationId xmlns:a16="http://schemas.microsoft.com/office/drawing/2014/main" id="{52B86A0A-EBAC-6D32-742A-8C7333C7C261}"/>
                </a:ext>
              </a:extLst>
            </p:cNvPr>
            <p:cNvSpPr/>
            <p:nvPr/>
          </p:nvSpPr>
          <p:spPr>
            <a:xfrm>
              <a:off x="8885158" y="4919660"/>
              <a:ext cx="2627495" cy="259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r>
                <a:rPr lang="en-US" sz="1500" b="1" kern="0" spc="150" dirty="0">
                  <a:solidFill>
                    <a:srgbClr val="9A9A9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CLASSIFICAÇÃO</a:t>
              </a:r>
              <a:endParaRPr lang="en-US" sz="1500" dirty="0"/>
            </a:p>
          </p:txBody>
        </p:sp>
        <p:sp>
          <p:nvSpPr>
            <p:cNvPr id="225" name="Text 16">
              <a:extLst>
                <a:ext uri="{FF2B5EF4-FFF2-40B4-BE49-F238E27FC236}">
                  <a16:creationId xmlns:a16="http://schemas.microsoft.com/office/drawing/2014/main" id="{411FEBB6-7303-31B7-D750-BAF32FB0117E}"/>
                </a:ext>
              </a:extLst>
            </p:cNvPr>
            <p:cNvSpPr/>
            <p:nvPr/>
          </p:nvSpPr>
          <p:spPr>
            <a:xfrm>
              <a:off x="8885158" y="5197790"/>
              <a:ext cx="2627495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75" b="1" dirty="0">
                  <a:solidFill>
                    <a:srgbClr val="1B53A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Normal</a:t>
              </a:r>
              <a:endParaRPr lang="en-US" sz="1875" dirty="0"/>
            </a:p>
          </p:txBody>
        </p:sp>
      </p:grpSp>
      <p:grpSp>
        <p:nvGrpSpPr>
          <p:cNvPr id="255" name="Agrupar 254">
            <a:extLst>
              <a:ext uri="{FF2B5EF4-FFF2-40B4-BE49-F238E27FC236}">
                <a16:creationId xmlns:a16="http://schemas.microsoft.com/office/drawing/2014/main" id="{4347A82C-F521-C5A0-8C36-712EE1A27D0D}"/>
              </a:ext>
            </a:extLst>
          </p:cNvPr>
          <p:cNvGrpSpPr/>
          <p:nvPr/>
        </p:nvGrpSpPr>
        <p:grpSpPr>
          <a:xfrm>
            <a:off x="1047750" y="6978016"/>
            <a:ext cx="16192500" cy="895350"/>
            <a:chOff x="1231722" y="6167439"/>
            <a:chExt cx="16192500" cy="895350"/>
          </a:xfrm>
        </p:grpSpPr>
        <p:sp>
          <p:nvSpPr>
            <p:cNvPr id="227" name="Shape 4">
              <a:extLst>
                <a:ext uri="{FF2B5EF4-FFF2-40B4-BE49-F238E27FC236}">
                  <a16:creationId xmlns:a16="http://schemas.microsoft.com/office/drawing/2014/main" id="{C530624C-8107-7111-6665-403D21927350}"/>
                </a:ext>
              </a:extLst>
            </p:cNvPr>
            <p:cNvSpPr/>
            <p:nvPr/>
          </p:nvSpPr>
          <p:spPr>
            <a:xfrm>
              <a:off x="1231722" y="6167439"/>
              <a:ext cx="16192500" cy="895350"/>
            </a:xfrm>
            <a:prstGeom prst="rect">
              <a:avLst/>
            </a:prstGeom>
            <a:solidFill>
              <a:srgbClr val="FAFAF9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229" name="Shape 5">
              <a:extLst>
                <a:ext uri="{FF2B5EF4-FFF2-40B4-BE49-F238E27FC236}">
                  <a16:creationId xmlns:a16="http://schemas.microsoft.com/office/drawing/2014/main" id="{5080CB1C-F5B6-E502-74C7-CEDC15E8DF6C}"/>
                </a:ext>
              </a:extLst>
            </p:cNvPr>
            <p:cNvSpPr/>
            <p:nvPr/>
          </p:nvSpPr>
          <p:spPr>
            <a:xfrm>
              <a:off x="1231722" y="6167439"/>
              <a:ext cx="36000" cy="895350"/>
            </a:xfrm>
            <a:prstGeom prst="rect">
              <a:avLst/>
            </a:prstGeom>
            <a:solidFill>
              <a:srgbClr val="1B53A6"/>
            </a:solidFill>
            <a:ln/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231" name="Shape 6">
              <a:extLst>
                <a:ext uri="{FF2B5EF4-FFF2-40B4-BE49-F238E27FC236}">
                  <a16:creationId xmlns:a16="http://schemas.microsoft.com/office/drawing/2014/main" id="{3C36E4CD-F361-525A-9F53-E8D02AE0FC15}"/>
                </a:ext>
              </a:extLst>
            </p:cNvPr>
            <p:cNvSpPr/>
            <p:nvPr/>
          </p:nvSpPr>
          <p:spPr>
            <a:xfrm>
              <a:off x="3744536" y="6167439"/>
              <a:ext cx="9525" cy="895350"/>
            </a:xfrm>
            <a:prstGeom prst="rect">
              <a:avLst/>
            </a:prstGeom>
            <a:solidFill>
              <a:srgbClr val="E6E6E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33" name="Text 7">
              <a:extLst>
                <a:ext uri="{FF2B5EF4-FFF2-40B4-BE49-F238E27FC236}">
                  <a16:creationId xmlns:a16="http://schemas.microsoft.com/office/drawing/2014/main" id="{FC0AA673-315F-3536-EEAB-72E541ABBF3E}"/>
                </a:ext>
              </a:extLst>
            </p:cNvPr>
            <p:cNvSpPr/>
            <p:nvPr/>
          </p:nvSpPr>
          <p:spPr>
            <a:xfrm>
              <a:off x="1540332" y="6338889"/>
              <a:ext cx="2110300" cy="259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500" b="1" kern="0" spc="150" dirty="0">
                  <a:solidFill>
                    <a:srgbClr val="9A9A9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SENSOR</a:t>
              </a:r>
              <a:endParaRPr lang="en-US" sz="1500" dirty="0"/>
            </a:p>
          </p:txBody>
        </p:sp>
        <p:sp>
          <p:nvSpPr>
            <p:cNvPr id="235" name="Text 8">
              <a:extLst>
                <a:ext uri="{FF2B5EF4-FFF2-40B4-BE49-F238E27FC236}">
                  <a16:creationId xmlns:a16="http://schemas.microsoft.com/office/drawing/2014/main" id="{E16B70DD-6CBE-4EAE-A1DC-CD3BB59CA6D2}"/>
                </a:ext>
              </a:extLst>
            </p:cNvPr>
            <p:cNvSpPr/>
            <p:nvPr/>
          </p:nvSpPr>
          <p:spPr>
            <a:xfrm>
              <a:off x="1540332" y="6617019"/>
              <a:ext cx="2110300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75" b="1" dirty="0" err="1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Intensidade</a:t>
              </a:r>
              <a:r>
                <a:rPr lang="en-US" sz="1875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UV</a:t>
              </a:r>
              <a:endParaRPr lang="en-US" sz="1875" dirty="0"/>
            </a:p>
          </p:txBody>
        </p:sp>
        <p:sp>
          <p:nvSpPr>
            <p:cNvPr id="237" name="Shape 9">
              <a:extLst>
                <a:ext uri="{FF2B5EF4-FFF2-40B4-BE49-F238E27FC236}">
                  <a16:creationId xmlns:a16="http://schemas.microsoft.com/office/drawing/2014/main" id="{F8FA0053-4038-DEED-30E4-FF12C9832E42}"/>
                </a:ext>
              </a:extLst>
            </p:cNvPr>
            <p:cNvSpPr/>
            <p:nvPr/>
          </p:nvSpPr>
          <p:spPr>
            <a:xfrm>
              <a:off x="5995056" y="6167439"/>
              <a:ext cx="9525" cy="895350"/>
            </a:xfrm>
            <a:prstGeom prst="rect">
              <a:avLst/>
            </a:prstGeom>
            <a:solidFill>
              <a:srgbClr val="E6E6E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39" name="Text 10">
              <a:extLst>
                <a:ext uri="{FF2B5EF4-FFF2-40B4-BE49-F238E27FC236}">
                  <a16:creationId xmlns:a16="http://schemas.microsoft.com/office/drawing/2014/main" id="{8AE03FB5-0A22-473D-D052-F375EB969195}"/>
                </a:ext>
              </a:extLst>
            </p:cNvPr>
            <p:cNvSpPr/>
            <p:nvPr/>
          </p:nvSpPr>
          <p:spPr>
            <a:xfrm>
              <a:off x="4037906" y="6338889"/>
              <a:ext cx="1838539" cy="259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500" b="1" kern="0" spc="150" dirty="0">
                  <a:solidFill>
                    <a:srgbClr val="9A9A9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FAIXA NORMAL</a:t>
              </a:r>
              <a:endParaRPr lang="en-US" sz="1500" dirty="0"/>
            </a:p>
          </p:txBody>
        </p:sp>
        <p:sp>
          <p:nvSpPr>
            <p:cNvPr id="241" name="Text 11">
              <a:extLst>
                <a:ext uri="{FF2B5EF4-FFF2-40B4-BE49-F238E27FC236}">
                  <a16:creationId xmlns:a16="http://schemas.microsoft.com/office/drawing/2014/main" id="{E4D434AB-75AE-43D5-FBAE-8A9A678E548B}"/>
                </a:ext>
              </a:extLst>
            </p:cNvPr>
            <p:cNvSpPr/>
            <p:nvPr/>
          </p:nvSpPr>
          <p:spPr>
            <a:xfrm>
              <a:off x="4037906" y="6617019"/>
              <a:ext cx="1838539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75" b="1" dirty="0">
                  <a:solidFill>
                    <a:srgbClr val="1A1A1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 a 7</a:t>
              </a:r>
              <a:endParaRPr lang="en-US" sz="1875" dirty="0"/>
            </a:p>
          </p:txBody>
        </p:sp>
        <p:sp>
          <p:nvSpPr>
            <p:cNvPr id="243" name="Shape 12">
              <a:extLst>
                <a:ext uri="{FF2B5EF4-FFF2-40B4-BE49-F238E27FC236}">
                  <a16:creationId xmlns:a16="http://schemas.microsoft.com/office/drawing/2014/main" id="{1DFCFDF3-75B5-88CF-ED5D-0D889A4A8657}"/>
                </a:ext>
              </a:extLst>
            </p:cNvPr>
            <p:cNvSpPr/>
            <p:nvPr/>
          </p:nvSpPr>
          <p:spPr>
            <a:xfrm>
              <a:off x="8562400" y="6167439"/>
              <a:ext cx="9525" cy="895350"/>
            </a:xfrm>
            <a:prstGeom prst="rect">
              <a:avLst/>
            </a:prstGeom>
            <a:solidFill>
              <a:srgbClr val="E6E6E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45" name="Text 13">
              <a:extLst>
                <a:ext uri="{FF2B5EF4-FFF2-40B4-BE49-F238E27FC236}">
                  <a16:creationId xmlns:a16="http://schemas.microsoft.com/office/drawing/2014/main" id="{336EA4FF-95B4-BDAB-1CE5-E65A6AC0686F}"/>
                </a:ext>
              </a:extLst>
            </p:cNvPr>
            <p:cNvSpPr/>
            <p:nvPr/>
          </p:nvSpPr>
          <p:spPr>
            <a:xfrm>
              <a:off x="6288426" y="6338889"/>
              <a:ext cx="2187047" cy="259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500" b="1" kern="0" spc="150" dirty="0">
                  <a:solidFill>
                    <a:srgbClr val="9A9A9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VALOR SIMULADO</a:t>
              </a:r>
              <a:endParaRPr lang="en-US" sz="1500" dirty="0"/>
            </a:p>
          </p:txBody>
        </p:sp>
        <p:sp>
          <p:nvSpPr>
            <p:cNvPr id="247" name="Text 14">
              <a:extLst>
                <a:ext uri="{FF2B5EF4-FFF2-40B4-BE49-F238E27FC236}">
                  <a16:creationId xmlns:a16="http://schemas.microsoft.com/office/drawing/2014/main" id="{B17E7678-BD5A-00E5-1299-745BEABA1D28}"/>
                </a:ext>
              </a:extLst>
            </p:cNvPr>
            <p:cNvSpPr/>
            <p:nvPr/>
          </p:nvSpPr>
          <p:spPr>
            <a:xfrm>
              <a:off x="6288426" y="6617019"/>
              <a:ext cx="2187047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75" b="1" dirty="0">
                  <a:solidFill>
                    <a:srgbClr val="1B53A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1875" dirty="0"/>
            </a:p>
          </p:txBody>
        </p:sp>
        <p:sp>
          <p:nvSpPr>
            <p:cNvPr id="249" name="Text 15">
              <a:extLst>
                <a:ext uri="{FF2B5EF4-FFF2-40B4-BE49-F238E27FC236}">
                  <a16:creationId xmlns:a16="http://schemas.microsoft.com/office/drawing/2014/main" id="{4D552627-4B23-AEFF-FA60-AFF87989F581}"/>
                </a:ext>
              </a:extLst>
            </p:cNvPr>
            <p:cNvSpPr/>
            <p:nvPr/>
          </p:nvSpPr>
          <p:spPr>
            <a:xfrm>
              <a:off x="8855770" y="6338889"/>
              <a:ext cx="2627495" cy="25908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r>
                <a:rPr lang="en-US" sz="1500" b="1" kern="0" spc="150" dirty="0">
                  <a:solidFill>
                    <a:srgbClr val="9A9A9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CLASSIFICAÇÃO</a:t>
              </a:r>
              <a:endParaRPr lang="en-US" sz="1500" dirty="0"/>
            </a:p>
          </p:txBody>
        </p:sp>
        <p:sp>
          <p:nvSpPr>
            <p:cNvPr id="251" name="Text 16">
              <a:extLst>
                <a:ext uri="{FF2B5EF4-FFF2-40B4-BE49-F238E27FC236}">
                  <a16:creationId xmlns:a16="http://schemas.microsoft.com/office/drawing/2014/main" id="{8DD40A2C-51D0-231D-F50E-32B494CCDB82}"/>
                </a:ext>
              </a:extLst>
            </p:cNvPr>
            <p:cNvSpPr/>
            <p:nvPr/>
          </p:nvSpPr>
          <p:spPr>
            <a:xfrm>
              <a:off x="8855770" y="6617019"/>
              <a:ext cx="2627495" cy="31242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875" b="1" dirty="0">
                  <a:solidFill>
                    <a:srgbClr val="1B53A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Normal</a:t>
              </a:r>
              <a:endParaRPr lang="en-US" sz="1875" dirty="0"/>
            </a:p>
          </p:txBody>
        </p:sp>
      </p:grpSp>
    </p:spTree>
    <p:extLst>
      <p:ext uri="{BB962C8B-B14F-4D97-AF65-F5344CB8AC3E}">
        <p14:creationId xmlns:p14="http://schemas.microsoft.com/office/powerpoint/2010/main" val="3613854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D1AD21-4017-9706-3547-52DBD771F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0F8CF7-7E3B-D27C-721F-2F698C9BBF54}"/>
              </a:ext>
            </a:extLst>
          </p:cNvPr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736AE33-37AE-F1BD-CD6D-15E21CB40E8C}"/>
              </a:ext>
            </a:extLst>
          </p:cNvPr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6E8E508-CE64-9722-AF9C-A57F0719D585}"/>
              </a:ext>
            </a:extLst>
          </p:cNvPr>
          <p:cNvSpPr/>
          <p:nvPr/>
        </p:nvSpPr>
        <p:spPr>
          <a:xfrm>
            <a:off x="2330797" y="857250"/>
            <a:ext cx="28148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800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95393340-1F11-9C7E-12C9-329369766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21" name="Text 20">
            <a:extLst>
              <a:ext uri="{FF2B5EF4-FFF2-40B4-BE49-F238E27FC236}">
                <a16:creationId xmlns:a16="http://schemas.microsoft.com/office/drawing/2014/main" id="{CF733FCB-C8AE-E001-8826-6D333B619360}"/>
              </a:ext>
            </a:extLst>
          </p:cNvPr>
          <p:cNvSpPr/>
          <p:nvPr/>
        </p:nvSpPr>
        <p:spPr>
          <a:xfrm>
            <a:off x="1231722" y="9265024"/>
            <a:ext cx="139484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pt-BR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9 – SIMULADOR DE DISPOSITIVO EM EXECUÇÃO</a:t>
            </a:r>
          </a:p>
        </p:txBody>
      </p:sp>
      <p:sp>
        <p:nvSpPr>
          <p:cNvPr id="191" name="Shape 76">
            <a:extLst>
              <a:ext uri="{FF2B5EF4-FFF2-40B4-BE49-F238E27FC236}">
                <a16:creationId xmlns:a16="http://schemas.microsoft.com/office/drawing/2014/main" id="{9336352B-55C9-C730-C314-041D5194FAE8}"/>
              </a:ext>
            </a:extLst>
          </p:cNvPr>
          <p:cNvSpPr/>
          <p:nvPr/>
        </p:nvSpPr>
        <p:spPr>
          <a:xfrm>
            <a:off x="1047750" y="9003030"/>
            <a:ext cx="16192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37AFDD9-D01A-095A-3C11-43BF4CA767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5344" y="1550561"/>
            <a:ext cx="14837312" cy="7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9903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976EEB-D71E-D508-B2A1-1F08D9FA1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C84563-F9E7-EB9C-5D9F-73E62D98A1A6}"/>
              </a:ext>
            </a:extLst>
          </p:cNvPr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AB7FF3D-A75C-D5A1-46B6-FFC0D2655677}"/>
              </a:ext>
            </a:extLst>
          </p:cNvPr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0813B4D-8E99-2202-D891-B45AD7B67823}"/>
              </a:ext>
            </a:extLst>
          </p:cNvPr>
          <p:cNvSpPr/>
          <p:nvPr/>
        </p:nvSpPr>
        <p:spPr>
          <a:xfrm>
            <a:off x="2330797" y="857250"/>
            <a:ext cx="28148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800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E69DAC10-C845-62B7-2799-BED0F1A30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21" name="Text 20">
            <a:extLst>
              <a:ext uri="{FF2B5EF4-FFF2-40B4-BE49-F238E27FC236}">
                <a16:creationId xmlns:a16="http://schemas.microsoft.com/office/drawing/2014/main" id="{6FF1B24A-3529-0A65-CC0D-A0C6B1F31A48}"/>
              </a:ext>
            </a:extLst>
          </p:cNvPr>
          <p:cNvSpPr/>
          <p:nvPr/>
        </p:nvSpPr>
        <p:spPr>
          <a:xfrm>
            <a:off x="1231722" y="9265024"/>
            <a:ext cx="139484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pt-BR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10 – ACHADO PRODUZIDO PELO AGENTE</a:t>
            </a:r>
          </a:p>
        </p:txBody>
      </p:sp>
      <p:sp>
        <p:nvSpPr>
          <p:cNvPr id="191" name="Shape 76">
            <a:extLst>
              <a:ext uri="{FF2B5EF4-FFF2-40B4-BE49-F238E27FC236}">
                <a16:creationId xmlns:a16="http://schemas.microsoft.com/office/drawing/2014/main" id="{1F1AB3CA-F3B7-E00A-D027-71D8E6D53AA9}"/>
              </a:ext>
            </a:extLst>
          </p:cNvPr>
          <p:cNvSpPr/>
          <p:nvPr/>
        </p:nvSpPr>
        <p:spPr>
          <a:xfrm>
            <a:off x="1047750" y="9003030"/>
            <a:ext cx="16192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92B769E-B21E-164C-0144-9822738EC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338" y="1414519"/>
            <a:ext cx="12633324" cy="72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149634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132C7F-E1F3-201E-D376-587EBB735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C0DF98-FF42-9D6A-C43B-0479D08B8279}"/>
              </a:ext>
            </a:extLst>
          </p:cNvPr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0F1B926-7B1B-D965-7D34-2A20C3D284E2}"/>
              </a:ext>
            </a:extLst>
          </p:cNvPr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747FF5-E42C-AE5A-69B2-B6429092BB6C}"/>
              </a:ext>
            </a:extLst>
          </p:cNvPr>
          <p:cNvSpPr/>
          <p:nvPr/>
        </p:nvSpPr>
        <p:spPr>
          <a:xfrm>
            <a:off x="2330797" y="857250"/>
            <a:ext cx="28148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800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366A71B5-9EF4-DD5A-99EA-9AB73487B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21" name="Text 20">
            <a:extLst>
              <a:ext uri="{FF2B5EF4-FFF2-40B4-BE49-F238E27FC236}">
                <a16:creationId xmlns:a16="http://schemas.microsoft.com/office/drawing/2014/main" id="{20280FEA-D792-D0F6-90CF-A5B22125ADAB}"/>
              </a:ext>
            </a:extLst>
          </p:cNvPr>
          <p:cNvSpPr/>
          <p:nvPr/>
        </p:nvSpPr>
        <p:spPr>
          <a:xfrm>
            <a:off x="1231722" y="9265024"/>
            <a:ext cx="139484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pt-BR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11 – RECOMENDAÇÃO GERADA E EXIBIDA AO USUÁRIO</a:t>
            </a:r>
          </a:p>
        </p:txBody>
      </p:sp>
      <p:sp>
        <p:nvSpPr>
          <p:cNvPr id="191" name="Shape 76">
            <a:extLst>
              <a:ext uri="{FF2B5EF4-FFF2-40B4-BE49-F238E27FC236}">
                <a16:creationId xmlns:a16="http://schemas.microsoft.com/office/drawing/2014/main" id="{E3F88374-0F9D-A588-1EA7-3E888C3D6A9B}"/>
              </a:ext>
            </a:extLst>
          </p:cNvPr>
          <p:cNvSpPr/>
          <p:nvPr/>
        </p:nvSpPr>
        <p:spPr>
          <a:xfrm>
            <a:off x="1047750" y="9003030"/>
            <a:ext cx="16192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7F808AA-FE84-5414-B88B-D410912CE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4000" y="1414519"/>
            <a:ext cx="12800000" cy="72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123432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6E1F92-913D-B604-3010-04CBB8164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8F899A-CD88-D1B3-3355-36A7CD6C00CB}"/>
              </a:ext>
            </a:extLst>
          </p:cNvPr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4907389-BEC1-AC35-D88C-E49D7ECBD6B0}"/>
              </a:ext>
            </a:extLst>
          </p:cNvPr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AE4A84B-3801-EB72-4232-EC2F66A0DC34}"/>
              </a:ext>
            </a:extLst>
          </p:cNvPr>
          <p:cNvSpPr/>
          <p:nvPr/>
        </p:nvSpPr>
        <p:spPr>
          <a:xfrm>
            <a:off x="2330797" y="857250"/>
            <a:ext cx="28148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800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38BFC083-174A-2C6B-990E-91187FB33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21" name="Text 20">
            <a:extLst>
              <a:ext uri="{FF2B5EF4-FFF2-40B4-BE49-F238E27FC236}">
                <a16:creationId xmlns:a16="http://schemas.microsoft.com/office/drawing/2014/main" id="{27AC2596-F8A3-4BE2-3903-CC9D1B53EA30}"/>
              </a:ext>
            </a:extLst>
          </p:cNvPr>
          <p:cNvSpPr/>
          <p:nvPr/>
        </p:nvSpPr>
        <p:spPr>
          <a:xfrm>
            <a:off x="1231722" y="9265024"/>
            <a:ext cx="139484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pt-BR" kern="0" spc="10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FIGURA 12 – REGISTRO DA RECOMENDAÇÃO NO BANCO</a:t>
            </a:r>
          </a:p>
        </p:txBody>
      </p:sp>
      <p:sp>
        <p:nvSpPr>
          <p:cNvPr id="191" name="Shape 76">
            <a:extLst>
              <a:ext uri="{FF2B5EF4-FFF2-40B4-BE49-F238E27FC236}">
                <a16:creationId xmlns:a16="http://schemas.microsoft.com/office/drawing/2014/main" id="{F3E3EA73-A9A5-32E6-7740-430950D490D8}"/>
              </a:ext>
            </a:extLst>
          </p:cNvPr>
          <p:cNvSpPr/>
          <p:nvPr/>
        </p:nvSpPr>
        <p:spPr>
          <a:xfrm>
            <a:off x="1047750" y="9003030"/>
            <a:ext cx="16192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2587F0A-11F6-FDA8-60D8-7C022EC48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1" y="3962683"/>
            <a:ext cx="16192500" cy="236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1243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3767138"/>
            <a:ext cx="3244914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2500" b="1" kern="0" spc="-900" dirty="0">
                <a:solidFill>
                  <a:srgbClr val="E6E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4797772" y="3939034"/>
            <a:ext cx="80691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97772" y="4415284"/>
            <a:ext cx="7555657" cy="15040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COMPORTAMENTO RESULTANTE</a:t>
            </a:r>
            <a:endParaRPr lang="en-US" sz="55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330797" y="857250"/>
            <a:ext cx="56015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COMPORTAMENTO RESULTANTE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8250" y="1314450"/>
            <a:ext cx="173926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2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REATIVO AO PROATIVO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238250" y="4019550"/>
            <a:ext cx="7677150" cy="2971800"/>
          </a:xfrm>
          <a:prstGeom prst="rect">
            <a:avLst/>
          </a:prstGeom>
          <a:solidFill>
            <a:srgbClr val="FAFA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657350" y="4400550"/>
            <a:ext cx="75228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· REATIVO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57350" y="4914900"/>
            <a:ext cx="75228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apenas sob demanda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657350" y="5381625"/>
            <a:ext cx="75228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da suspeita do operador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657350" y="5848350"/>
            <a:ext cx="75228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Conhecimento analítico ocioso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657350" y="6315075"/>
            <a:ext cx="75228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 </a:t>
            </a:r>
            <a:r>
              <a:rPr lang="en-US" sz="2025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</a:t>
            </a:r>
            <a:r>
              <a:rPr lang="en-US" sz="2025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laço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372600" y="4019550"/>
            <a:ext cx="7677150" cy="2971800"/>
          </a:xfrm>
          <a:prstGeom prst="rect">
            <a:avLst/>
          </a:prstGeom>
          <a:solidFill>
            <a:srgbClr val="0E2A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791700" y="4400550"/>
            <a:ext cx="75228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9FB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· PROATIVO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91700" y="4914900"/>
            <a:ext cx="75228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 a cada ciclo de consolidação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791700" y="5381625"/>
            <a:ext cx="75228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 antes da suspeita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9791700" y="5848350"/>
            <a:ext cx="75228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A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Conhecimento sempre ativo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9791700" y="6315075"/>
            <a:ext cx="752284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acima 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laço</a:t>
            </a:r>
            <a:endParaRPr lang="en-US" sz="2025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2B8B5C0-DC42-1671-3699-965C3DB0D898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C15E4045-5C1F-8315-2119-288FBDEEC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26" name="Text 20">
            <a:extLst>
              <a:ext uri="{FF2B5EF4-FFF2-40B4-BE49-F238E27FC236}">
                <a16:creationId xmlns:a16="http://schemas.microsoft.com/office/drawing/2014/main" id="{4F0A0C86-E86D-F25B-510B-864C1C255D4B}"/>
              </a:ext>
            </a:extLst>
          </p:cNvPr>
          <p:cNvSpPr/>
          <p:nvPr/>
        </p:nvSpPr>
        <p:spPr>
          <a:xfrm>
            <a:off x="1231722" y="9265024"/>
            <a:ext cx="139484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ATRIBUTOS ADQUIRIDOS: </a:t>
            </a:r>
            <a:r>
              <a:rPr lang="en-US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AUTONOMIA </a:t>
            </a:r>
            <a:r>
              <a:rPr lang="en-US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CONTINUIDADE </a:t>
            </a:r>
            <a:r>
              <a:rPr lang="en-US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ANTECIPAÇÃO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3767138"/>
            <a:ext cx="3244914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2500" b="1" kern="0" spc="-900" dirty="0">
                <a:solidFill>
                  <a:srgbClr val="E6E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4797772" y="4305449"/>
            <a:ext cx="90898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97772" y="4781699"/>
            <a:ext cx="9089886" cy="77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DOS RESULTADOS</a:t>
            </a:r>
            <a:endParaRPr lang="en-US" sz="55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330797" y="857250"/>
            <a:ext cx="38758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GANHOS E BENEFÍCIOS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8250" y="1314450"/>
            <a:ext cx="173926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2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DIMENSÕES DE GANHO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238250" y="3199804"/>
            <a:ext cx="4965650" cy="28575"/>
          </a:xfrm>
          <a:prstGeom prst="rect">
            <a:avLst/>
          </a:prstGeom>
          <a:solidFill>
            <a:srgbClr val="1B53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238250" y="3476029"/>
            <a:ext cx="54622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usuário e o domínio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238250" y="3980854"/>
            <a:ext cx="5462215" cy="348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Antecipação de condições críticas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8250" y="4463057"/>
            <a:ext cx="5462215" cy="348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da carga cognitiva de vigilância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8250" y="4945260"/>
            <a:ext cx="5114620" cy="6596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 contextualizadas e multissensoriais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661100" y="3199804"/>
            <a:ext cx="4965650" cy="28575"/>
          </a:xfrm>
          <a:prstGeom prst="rect">
            <a:avLst/>
          </a:prstGeom>
          <a:solidFill>
            <a:srgbClr val="1B53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661100" y="3476029"/>
            <a:ext cx="54622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Técnicos e arquiteturais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6661100" y="3980854"/>
            <a:ext cx="5462215" cy="348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única de verdade na avaliação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61100" y="4463057"/>
            <a:ext cx="5462215" cy="348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Desacoplamento e extensibilidade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61100" y="4945260"/>
            <a:ext cx="5462215" cy="348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Testabilidade dos componentes determinísticos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61100" y="5427463"/>
            <a:ext cx="5462215" cy="348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custo e latência do LLM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61100" y="5909667"/>
            <a:ext cx="5462215" cy="348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Resiliência por filas e degradação graciosa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083951" y="3199804"/>
            <a:ext cx="4965650" cy="28575"/>
          </a:xfrm>
          <a:prstGeom prst="rect">
            <a:avLst/>
          </a:prstGeom>
          <a:solidFill>
            <a:srgbClr val="1B53A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2083951" y="3476029"/>
            <a:ext cx="54622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Metodológicos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2083951" y="3980854"/>
            <a:ext cx="5114620" cy="6596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entre requisito, decisão e implementação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083951" y="4773810"/>
            <a:ext cx="5114620" cy="6596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explícito das decisões e alternativas (spec-driven)</a:t>
            </a:r>
            <a:endParaRPr lang="en-US" sz="1800" dirty="0"/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D4617DB6-1FA9-ACCF-D474-435F76C3C442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36093CC4-CA8C-4A21-23D9-FE2567579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3767138"/>
            <a:ext cx="3244914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2500" b="1" kern="0" spc="-900" dirty="0">
                <a:solidFill>
                  <a:srgbClr val="E6E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4797772" y="4305449"/>
            <a:ext cx="49966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468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97772" y="4781699"/>
            <a:ext cx="4996622" cy="771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55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64047" y="98583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330797" y="857250"/>
            <a:ext cx="20455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8250" y="1314450"/>
            <a:ext cx="1739265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22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238250" y="4620667"/>
            <a:ext cx="14859000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238250" y="4005411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771650" y="3948261"/>
            <a:ext cx="8945493" cy="443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</a:t>
            </a: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específicos </a:t>
            </a: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foram integralmente atendidos.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38250" y="5994053"/>
            <a:ext cx="14859000" cy="9525"/>
          </a:xfrm>
          <a:prstGeom prst="rect">
            <a:avLst/>
          </a:prstGeom>
          <a:solidFill>
            <a:srgbClr val="ECEC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238250" y="4973092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771650" y="4915942"/>
            <a:ext cx="14755368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natureza do sistema mudou: passou a comunicar condições relevantes sem demanda do usuário, exercendo </a:t>
            </a: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autonomia, continuidade e antecipação</a:t>
            </a: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238250" y="6346478"/>
            <a:ext cx="3429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771650" y="6289328"/>
            <a:ext cx="14755368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arquitetura entregue é </a:t>
            </a: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desacoplada, testável e extensível </a:t>
            </a: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base preparada para regras por cultura, novos agentes e evolução do componente generativo.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456834" y="11626383"/>
            <a:ext cx="926030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1875" dirty="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BB9C918F-0850-ACF6-3256-E8AB756F8DF8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E18FDD06-A5F5-8548-2D5E-79A9BE966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C5A26852-6210-8C32-BED1-66CC76A2F93B}"/>
              </a:ext>
            </a:extLst>
          </p:cNvPr>
          <p:cNvSpPr/>
          <p:nvPr/>
        </p:nvSpPr>
        <p:spPr>
          <a:xfrm>
            <a:off x="1231722" y="9265024"/>
            <a:ext cx="139484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pt-BR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TRANSIÇÃO DO PARADIGMA REATIVO PARA O PROATIVO MOSTROU-SE </a:t>
            </a:r>
            <a:r>
              <a:rPr lang="pt-BR" b="1" dirty="0">
                <a:solidFill>
                  <a:srgbClr val="1B53A6"/>
                </a:solidFill>
                <a:latin typeface="Arial" pitchFamily="34" charset="0"/>
                <a:cs typeface="Arial" pitchFamily="34" charset="-120"/>
              </a:rPr>
              <a:t>VIÁVEL</a:t>
            </a:r>
            <a:r>
              <a:rPr lang="pt-BR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b="1" dirty="0">
                <a:solidFill>
                  <a:srgbClr val="1B53A6"/>
                </a:solidFill>
                <a:latin typeface="Arial" pitchFamily="34" charset="0"/>
                <a:cs typeface="Arial" pitchFamily="34" charset="-120"/>
              </a:rPr>
              <a:t>BENÉFICA</a:t>
            </a:r>
            <a:r>
              <a:rPr lang="pt-BR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00100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5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473547" y="928688"/>
            <a:ext cx="495300" cy="9525"/>
          </a:xfrm>
          <a:prstGeom prst="rect">
            <a:avLst/>
          </a:prstGeom>
          <a:solidFill>
            <a:srgbClr val="D6D6D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140297" y="800100"/>
            <a:ext cx="23417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9A9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238250"/>
            <a:ext cx="1781175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kern="0" spc="-2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47750" y="2836962"/>
            <a:ext cx="79859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BERNARDI, A. C. de C. et al. (Ed.). </a:t>
            </a:r>
            <a:r>
              <a:rPr lang="en-US" sz="1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Agricultura de precisão: resultados de um novo olhar </a:t>
            </a: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Brasília: Embrapa, 2014.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86900" y="2836962"/>
            <a:ext cx="79859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MOLIN, J. P.; AMARAL, L. R. do; COLAÇO, A. F. </a:t>
            </a:r>
            <a:r>
              <a:rPr lang="en-US" sz="1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Agricultura de precisão </a:t>
            </a: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São Paulo: Oficina de Textos, 2015.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3648373"/>
            <a:ext cx="798595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BORDINI, R. H.; HÜBNER, J. F.; WOOLDRIDGE, M. </a:t>
            </a:r>
            <a:r>
              <a:rPr lang="en-US" sz="1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Multi-Agent Systems in AgentSpeak using Jason </a:t>
            </a: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Chichester: John Wiley &amp; Sons, 2007.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86900" y="3648373"/>
            <a:ext cx="798595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REZENDE, S. O. (Org.). </a:t>
            </a:r>
            <a:r>
              <a:rPr lang="en-US" sz="1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inteligentes: fundamentos e aplicações </a:t>
            </a: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Barueri: Manole, 2003.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7750" y="4779764"/>
            <a:ext cx="79859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FACELI, K. et al. </a:t>
            </a:r>
            <a:r>
              <a:rPr lang="en-US" sz="1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Artificial: uma abordagem de aprendizado de máquina </a:t>
            </a: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Rio de Janeiro: LTC, 2011.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86900" y="4779764"/>
            <a:ext cx="79859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RICCI, F.; ROKACH, L.; SHAPIRA, B. (Ed.). </a:t>
            </a:r>
            <a:r>
              <a:rPr lang="en-US" sz="1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Recommender Systems Handbook </a:t>
            </a: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3. ed. New York: Springer, 2022.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7750" y="5591175"/>
            <a:ext cx="79859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HOHPE, G.; WOOLF, B. </a:t>
            </a:r>
            <a:r>
              <a:rPr lang="en-US" sz="1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Integration Patterns </a:t>
            </a: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Boston: Addison-Wesley, 2003.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486900" y="5591175"/>
            <a:ext cx="79859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RUSSELL, S.; NORVIG, P. </a:t>
            </a:r>
            <a:r>
              <a:rPr lang="en-US" sz="1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Intelligence: A Modern Approach </a:t>
            </a: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4. ed. Hoboken: Pearson, 2021.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47750" y="6402586"/>
            <a:ext cx="79859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LEWIS, P. et al. Retrieval-augmented generation for knowledge-intensive NLP tasks. </a:t>
            </a:r>
            <a:r>
              <a:rPr lang="en-US" sz="1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NeurIPS</a:t>
            </a: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v. 33, p. 9459-9474, 2020.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486900" y="6402586"/>
            <a:ext cx="79859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TENNENHOUSE, D. Proactive computing. </a:t>
            </a:r>
            <a:r>
              <a:rPr lang="en-US" sz="1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Communications of the ACM </a:t>
            </a: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v. 43, n. 5, p. 43-50, 2000.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47750" y="7213997"/>
            <a:ext cx="798595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YAO, S. et al. ReAct: synergizing reasoning and acting in language models. </a:t>
            </a:r>
            <a:r>
              <a:rPr lang="en-US" sz="1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ICLR</a:t>
            </a: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2023.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486900" y="7213997"/>
            <a:ext cx="798595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WOOLDRIDGE, M.; JENNINGS, N. R. Intelligent agents: theory and practice. </a:t>
            </a:r>
            <a:r>
              <a:rPr lang="en-US" sz="18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Knowledge Engineering Review </a:t>
            </a:r>
            <a:r>
              <a:rPr lang="en-US" sz="18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v. 10, n. 2, p. 115-152, 1995.</a:t>
            </a:r>
            <a:endParaRPr lang="en-US" sz="18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63B71C86-13FF-F198-0E01-0B6F308FC0B6}"/>
              </a:ext>
            </a:extLst>
          </p:cNvPr>
          <p:cNvSpPr/>
          <p:nvPr/>
        </p:nvSpPr>
        <p:spPr>
          <a:xfrm>
            <a:off x="1238250" y="8924925"/>
            <a:ext cx="15811500" cy="9525"/>
          </a:xfrm>
          <a:prstGeom prst="rect">
            <a:avLst/>
          </a:prstGeom>
          <a:solidFill>
            <a:srgbClr val="E2E2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57158F10-0D81-75AB-8D46-A6381CC13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025" y="9144000"/>
            <a:ext cx="701725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03732" y="3170932"/>
            <a:ext cx="6080388" cy="117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800" b="1" kern="0" spc="7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</a:t>
            </a:r>
            <a:endParaRPr lang="en-US" sz="7800" dirty="0"/>
          </a:p>
        </p:txBody>
      </p:sp>
      <p:sp>
        <p:nvSpPr>
          <p:cNvPr id="3" name="Shape 1"/>
          <p:cNvSpPr/>
          <p:nvPr/>
        </p:nvSpPr>
        <p:spPr>
          <a:xfrm>
            <a:off x="8686800" y="4399657"/>
            <a:ext cx="914400" cy="19050"/>
          </a:xfrm>
          <a:prstGeom prst="rect">
            <a:avLst/>
          </a:prstGeom>
          <a:solidFill>
            <a:srgbClr val="5B86C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257550" y="5085457"/>
            <a:ext cx="1177290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dirty="0">
                <a:solidFill>
                  <a:srgbClr val="C8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MONITORAÇÃO REATIVA À PROATIVA: UMA CAMADA DE AGENTES PARA GERAÇÃO AUTÔNOMA DE RECOMENDAÇÕES EM TELEMETRIA AGRÍCOLA.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35547" y="6373118"/>
            <a:ext cx="44167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kern="0" spc="6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Vinicius Fernandes Escobedo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935547" y="6773168"/>
            <a:ext cx="44167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FB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Orientador: </a:t>
            </a:r>
            <a:r>
              <a:rPr lang="es-ES" sz="1800" dirty="0">
                <a:solidFill>
                  <a:srgbClr val="9FB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Me. José Antonio Gallo Junior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61686" y="9296400"/>
            <a:ext cx="3564478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kern="0" spc="360" dirty="0">
                <a:solidFill>
                  <a:srgbClr val="9FB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 BONITA</a:t>
            </a:r>
          </a:p>
          <a:p>
            <a:pPr marL="0" indent="0" algn="ctr">
              <a:buNone/>
            </a:pPr>
            <a:r>
              <a:rPr lang="en-US" sz="1800" kern="0" spc="360" dirty="0">
                <a:solidFill>
                  <a:srgbClr val="9FB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1470</TotalTime>
  <Words>3421</Words>
  <Application>Microsoft Office PowerPoint</Application>
  <PresentationFormat>Personalizar</PresentationFormat>
  <Paragraphs>536</Paragraphs>
  <Slides>41</Slides>
  <Notes>41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4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Vinicius Fernandes</cp:lastModifiedBy>
  <cp:revision>40</cp:revision>
  <dcterms:created xsi:type="dcterms:W3CDTF">2026-06-16T02:33:46Z</dcterms:created>
  <dcterms:modified xsi:type="dcterms:W3CDTF">2026-06-18T06:11:45Z</dcterms:modified>
</cp:coreProperties>
</file>