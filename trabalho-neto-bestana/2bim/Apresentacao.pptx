
<file path=[Content_Types].xml><?xml version="1.0" encoding="utf-8"?>
<Types xmlns="http://schemas.openxmlformats.org/package/2006/content-types">
  <Default Extension="jpeg" ContentType="image/jpeg"/>
  <Default Extension="jpg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8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7346A-FDFD-9D4C-B920-BFF7F7DE2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2C3F69-5BF2-81A7-66DF-76D24DD17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D1EFBB-6E6E-F5E5-2C03-432B5C59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8CB05E-88B0-61EA-7BDD-A0A96D63A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6855E7-7D47-438A-9154-91B8EE5C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41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4792C-6FAC-693A-977F-814E4EE0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217ECC-6715-A434-0FCA-FBA04FF03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AA3B2B-D11B-2D7E-147C-D76BA68F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9BE1B7-ECBE-2A20-79EA-5563C2FDB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21E83C-38C1-2B0C-B175-E44A9842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32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6F67F-A10A-75EF-5948-554FCD1D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F7B5DD-6184-3E16-5560-F6D9FDFB3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8AFD0D-DAC6-B70F-7D4C-D3095622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2A15E4-9971-E0F1-5C1C-91B7AF76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8D2A48-BFB3-7876-F4D1-031272204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55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26203-3F16-526C-B037-68DCA2E23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5DF9AB-BA93-56E8-6FE4-CB7F5FB0A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649E4A-C3B8-2B7A-6FAD-D588B8444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0E68E0-95F1-8BE9-178A-BFC02057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E178A3-6187-A508-8F59-2E4F4263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087AD0-BCA0-4A49-5865-8ABA8195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34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C905A-1992-4D51-BCB3-7B5612CA8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3F574-AA38-26F2-06AD-D6F7E3CEC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A4E24F-6482-C2E7-2F04-0EAA21C34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DFE1E0-06AD-D378-B7B7-8BD28A5A0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F0E574-E2DE-2DB5-6D56-CB7DAA12C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26A4D29-99BA-8277-5238-E19BC7F5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3D0FC69-8F03-4737-F6AB-6206AD51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7C31A7-AFC4-539F-1D69-1749507A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5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DA0A8-1D9B-3759-BE4A-7C2EF058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BA9C6E3-A440-480B-E55C-4CDC761A4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8821FF-0F57-A7E9-A7F9-ACA5327A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55F00C-C1EF-E74A-29AF-AB3807E93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82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8E910C3-0BD4-422D-C21A-13543D83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C802FFA-FC6B-2DF3-1151-B68B42E2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004E41-7219-0D2D-724B-D7263DE2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749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60717-4618-976B-9B5A-E0E695137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CF03B9-F916-95C4-131E-A713DE3FF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9FFAED-C792-5FE9-72CE-A2D18971F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08D2F1-6A54-CB12-0556-934BCB18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BB29F0-AC4E-2163-580A-6984CF64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FE4493-AE9B-B1F2-A679-6ED5B0D9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303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DD56F-C797-D3C7-0F34-BF530D99E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83F090-C344-77FF-DE4A-FF159C3B7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C25310-8E7B-2C78-DB6D-E5540A143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05C6BD-0470-F7C7-306A-C55EB0F68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B0F2F8-A062-95B1-13EA-4553B257E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3A7442-35F7-37E1-8F8F-20AB89C5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5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1E1DB-C33D-3372-65FE-B599FFDE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059D53-3CAF-59ED-2DAA-E8AF70919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EB6C44-1A87-B804-5B60-6C378B8AC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D6BB91-5ED9-A9C0-5958-00A3D53E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3544EF-5938-BC27-06CE-F5C240B5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11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057DF8-906C-CA6A-6C43-22FD9029E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923643-6F8B-BDAA-2F27-5EE5290B5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5A52F9-3642-7CCF-E312-D6799C5F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2C1B28-278B-4A01-64DF-8B438407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47A49B-78DF-EFB8-6618-0F183488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38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8FD3156-6D4E-5E2D-C0D3-BD7BA9D12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320EDF-4349-DC4C-0A2A-6D57EAED4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A9EE8D-991E-7422-962A-17EF2F696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1AFE4-AAEC-43AD-B4CC-79972711FB37}" type="datetimeFigureOut">
              <a:rPr lang="pt-BR" smtClean="0"/>
              <a:t>04/05/2025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2999F6-B8A8-A354-030F-3DA608E19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75E2DB-5D12-CC40-21B4-A2254B6D0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B11C3-4CC7-4306-A5EB-A63FB82DBD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821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475438F-B32C-AED9-F53A-8069A5724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993" y="6178488"/>
            <a:ext cx="1192126" cy="67951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8AC3180-B790-F8BC-9582-A73D6430A82C}"/>
              </a:ext>
            </a:extLst>
          </p:cNvPr>
          <p:cNvSpPr txBox="1"/>
          <p:nvPr/>
        </p:nvSpPr>
        <p:spPr>
          <a:xfrm>
            <a:off x="2187002" y="4742129"/>
            <a:ext cx="7817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 AMBIENTAL E PROPOSTA SUSTENTÁVEL BASEADA NA PNRS PARA O SETOR DA CONSTRUÇÃO CIVIL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D3A1A1-D484-EBC9-5AD9-1EF1C08F9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816" y="1323473"/>
            <a:ext cx="3188368" cy="318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216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EC22A-4D14-E638-5920-F1D836D8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SÃO RESÍDUOS SÓLIDOS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BE898F-F6A3-527B-2260-DAC67E0FA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Materiais descartados provenientes e resultantes de atividades humanas e processos naturais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Os resíduos podem ser encontrados em estado sólido ou semissólidos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Precisam ser gerenciados de forma adequada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Apresentam riscos a saúde publica e meio ambiente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conceito foi regulamentado pela Politica Nacional de Resíduos Sólidos (Lei n° 12305/2010)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A649C9-DBEE-3076-2E8E-F610D89E3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993" y="6178488"/>
            <a:ext cx="1192126" cy="67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044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E7E57C-F291-3C7E-8A53-3364621C3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Sacos plásticos, papeis e papelões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Resíduos de origem mineral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Baldes metálicos de alumínio ou ferro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Madeiras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Sucatas de ferro e aço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Concreto e pedras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Resíduos líquidos perigosos ao meio ambiente</a:t>
            </a:r>
          </a:p>
          <a:p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EBE27DB-324D-DF3C-CE3B-FE91CA05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RESÍDUOS SÓLIDOS GERADOS PELA CONSTRUÇÃO CIVIL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94C7EF-6756-CD34-31A3-C3B5E5023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993" y="6178488"/>
            <a:ext cx="1192126" cy="67951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A6E4C1D-0DC5-1959-284F-B01C2B687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913" y="2467267"/>
            <a:ext cx="4602080" cy="306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948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BBD80-F81A-5510-2904-1F77BE4C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CAUSAS DA GERAÇÃO EXCESSIVA DESSES RESÍDUOS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AC0CD3-BF40-754F-FCCC-244511BEC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Planejamento inadequado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Falta de controle no canteiro de obras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Falta de cultura de reaproveitamento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Demolição sem critérios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429DFA-4B08-6051-EC9B-2CF4F4B2C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993" y="6178488"/>
            <a:ext cx="1192126" cy="67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45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41356-413F-3808-79D3-026E1D0F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F98C4E-7C10-A839-2FF5-5E7F4EA6D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 AMBIENTAIS ASSOCIADOS A ESSES RESÍDUOS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A14F2C-1E8F-C450-44DC-946B087E7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Poluição do solo e da água</a:t>
            </a:r>
          </a:p>
          <a:p>
            <a:endParaRPr lang="pt-BR" sz="2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pt-BR" sz="2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pt-BR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Emissões de gases de efeito estufa</a:t>
            </a:r>
          </a:p>
          <a:p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pt-BR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pt-BR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Degradação do ambiente urbano</a:t>
            </a:r>
          </a:p>
          <a:p>
            <a:endParaRPr lang="pt-BR" sz="2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pt-BR" sz="20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pt-BR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Impactos à saúde pública</a:t>
            </a:r>
            <a:endParaRPr lang="pt-BR" sz="3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D3A082-B818-43AE-8AD5-C52863E3A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993" y="6178488"/>
            <a:ext cx="1192126" cy="67951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0131A4B-4D0B-59E2-C48D-2ADEE886E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102" y="4128326"/>
            <a:ext cx="2880000" cy="166127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9A221DF-022D-D083-A6AA-D416A0CEB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499" y="1580962"/>
            <a:ext cx="3257207" cy="2160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5064AD3-0701-39A5-CB3E-3E89D4ACA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9845" y="1580962"/>
            <a:ext cx="1803955" cy="216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0EAA5AF-51F6-5896-B5DD-E489B855FD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056" y="3875899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13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D1CC-3BCC-5EE2-BBA8-66CF3A92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363B5-6A49-F5E6-D854-03833BC4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A PNRS PODE SER APLICADA PARA MITIGAR ESSES IMPACTOS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E0D7E6-771C-2246-C234-38065986F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Política Nacional de Resíduos Sólidos (PNRS), instituída pela Lei nº 12.305/2010</a:t>
            </a:r>
          </a:p>
          <a:p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P</a:t>
            </a:r>
            <a:r>
              <a:rPr lang="pt-BR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rioriza a não geração, redução, reutilização, reciclagem e tratamento dos resíduos, além da disposição final.</a:t>
            </a:r>
          </a:p>
          <a:p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pt-BR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Planos de Gerenciamento de Resíduos Sólidos da Construção Civil (PGRCC).</a:t>
            </a:r>
          </a:p>
          <a:p>
            <a:endParaRPr lang="pt-BR" sz="3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pt-BR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Caracterização, Segregação, Acondicionamento, Transporte e Destinação.</a:t>
            </a:r>
          </a:p>
          <a:p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pt-BR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Metas e procedimentos para a redução da quantidade de resíduos.</a:t>
            </a:r>
          </a:p>
          <a:p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pt-BR" sz="2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Periodicidade da revisão do PGRCC.</a:t>
            </a:r>
          </a:p>
          <a:p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Conformidade com as orientação do Conselho Nacional do Meio Ambiente (Conama).</a:t>
            </a:r>
            <a:endParaRPr lang="pt-BR" sz="20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4AEC08-3807-8935-A6A8-ADBA48796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993" y="6178488"/>
            <a:ext cx="1192126" cy="67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40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B7AA1-903C-25CF-4737-FA5C7FA5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861E9-03AF-C2B5-28F1-C22D6632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AÇÕES DE LOGÍSTICA REVERSA E REUTILIZAÇÃO PARA O SETOR DA</a:t>
            </a:r>
            <a:b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CONSTRUÇÃO CIVIL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E2B14E-4007-AF89-B965-F75F09972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Recolha de embalagens de materiais de construção pelos fabricantes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859B82-9C20-3E80-ED52-437C1E470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993" y="6178488"/>
            <a:ext cx="1192126" cy="67951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697F9D-D22A-5C6E-DDE0-FE0E6F997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073" y="3108910"/>
            <a:ext cx="3068053" cy="3068053"/>
          </a:xfrm>
          <a:prstGeom prst="rect">
            <a:avLst/>
          </a:prstGeom>
        </p:spPr>
      </p:pic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9546DB9D-DC04-8883-17B6-39BF656C429A}"/>
              </a:ext>
            </a:extLst>
          </p:cNvPr>
          <p:cNvSpPr txBox="1">
            <a:spLocks/>
          </p:cNvSpPr>
          <p:nvPr/>
        </p:nvSpPr>
        <p:spPr>
          <a:xfrm>
            <a:off x="6202279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Reaproveitamento de entulho triturado para ser utilizado em pavimentação ou novas obras. 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AAF8CF3A-6CD0-1A7E-C319-918325515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25" b="15330"/>
          <a:stretch/>
        </p:blipFill>
        <p:spPr bwMode="auto">
          <a:xfrm>
            <a:off x="6882136" y="3264078"/>
            <a:ext cx="3898086" cy="275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527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23778-BD79-41CF-A9B1-F97F48251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9AB19-2AF8-C055-5D93-75B83FB2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AÇÕES DE LOGÍSTICA REVERSA E REUTILIZAÇÃO PARA O SETOR DA</a:t>
            </a:r>
            <a:b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CONSTRUÇÃO CIVIL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F6DBF54-AF1E-B727-3946-BFD6CA29E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993" y="6178488"/>
            <a:ext cx="1192126" cy="679512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9466235-617B-7C88-02A5-FDB5A5C42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948855"/>
              </p:ext>
            </p:extLst>
          </p:nvPr>
        </p:nvGraphicFramePr>
        <p:xfrm>
          <a:off x="838200" y="2305941"/>
          <a:ext cx="10515600" cy="3872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238">
                  <a:extLst>
                    <a:ext uri="{9D8B030D-6E8A-4147-A177-3AD203B41FA5}">
                      <a16:colId xmlns:a16="http://schemas.microsoft.com/office/drawing/2014/main" val="3791008409"/>
                    </a:ext>
                  </a:extLst>
                </a:gridCol>
                <a:gridCol w="3480162">
                  <a:extLst>
                    <a:ext uri="{9D8B030D-6E8A-4147-A177-3AD203B41FA5}">
                      <a16:colId xmlns:a16="http://schemas.microsoft.com/office/drawing/2014/main" val="19802463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56248082"/>
                    </a:ext>
                  </a:extLst>
                </a:gridCol>
              </a:tblGrid>
              <a:tr h="3049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Categoria</a:t>
                      </a:r>
                      <a:endParaRPr lang="pt-BR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Exemplos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Destinação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50625"/>
                  </a:ext>
                </a:extLst>
              </a:tr>
              <a:tr h="945267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Classe A</a:t>
                      </a:r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Resíduos reutilizáveis ou recicláveis como agregados.</a:t>
                      </a:r>
                      <a:endParaRPr lang="pt-B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Componentes cerâmicos, argamassa, concreto e peças pré-moldadas de concreto. 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Deverão ser reutilizados ou reciclados na forma de agregados ou encaminhados a aterro de resíduos classe A de reserva de material para usos futuros.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832908"/>
                  </a:ext>
                </a:extLst>
              </a:tr>
              <a:tr h="1158715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Classe B</a:t>
                      </a:r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Resíduos recicláveis.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Plástico, papel, metal, papelão, vidro, madeira e embalagens vazias de tinta e gesso.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Deverão ser reutilizados, reciclados ou encaminhados a áreas de armazenamento temporário, sendo dispostos de modo a permitir a sua utilização ou reciclagem futura.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756729"/>
                  </a:ext>
                </a:extLst>
              </a:tr>
              <a:tr h="731820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Classe C</a:t>
                      </a:r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Resíduos sem tecnologias ou aplicações que permitam a sua reciclagem ou recuperação.</a:t>
                      </a:r>
                      <a:endParaRPr lang="pt-B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Gesso e isopor.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Deverão ser armazenados, transportados e destinados em conformidade com as normas técnicas específicas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546047"/>
                  </a:ext>
                </a:extLst>
              </a:tr>
              <a:tr h="731820">
                <a:tc>
                  <a:txBody>
                    <a:bodyPr/>
                    <a:lstStyle/>
                    <a:p>
                      <a:r>
                        <a:rPr lang="pt-BR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Classe D</a:t>
                      </a:r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pt-BR" sz="1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Resíduos perigosos, contaminados ou prejudiciais à saúde.</a:t>
                      </a:r>
                      <a:endParaRPr lang="pt-B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Tintas, solventes, óleos e telhas com amianto.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Deverão ser armazenados, transportados e destinados em conformidade com as normas técnicas específicas.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631597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A75B3BA0-7F06-5C74-7E79-7AE6DBEE5784}"/>
              </a:ext>
            </a:extLst>
          </p:cNvPr>
          <p:cNvSpPr txBox="1"/>
          <p:nvPr/>
        </p:nvSpPr>
        <p:spPr>
          <a:xfrm>
            <a:off x="838200" y="1690688"/>
            <a:ext cx="105155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 resolução nº 307/2002 do Conama que trata diretamente sobre resíduos da construção civil, classifica os resíduos quanto ao tipo e destinação adequada:</a:t>
            </a:r>
          </a:p>
        </p:txBody>
      </p:sp>
    </p:spTree>
    <p:extLst>
      <p:ext uri="{BB962C8B-B14F-4D97-AF65-F5344CB8AC3E}">
        <p14:creationId xmlns:p14="http://schemas.microsoft.com/office/powerpoint/2010/main" val="2672284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DC1F7-CD8D-8FD5-E1C5-87989F18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E34D5AB-E898-0FCF-E6CF-CD1D6F40B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870" y="606759"/>
            <a:ext cx="4090260" cy="233144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F21BEFB-30E0-FDC6-C84B-11D694C27519}"/>
              </a:ext>
            </a:extLst>
          </p:cNvPr>
          <p:cNvSpPr txBox="1"/>
          <p:nvPr/>
        </p:nvSpPr>
        <p:spPr>
          <a:xfrm>
            <a:off x="2632409" y="2935530"/>
            <a:ext cx="6927182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CARLOS ALEXANDRE ALVES CUNHA - 5º TERMO</a:t>
            </a:r>
          </a:p>
          <a:p>
            <a:pPr algn="ctr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CARLOS DANIEL DE NASCIMENTO SOUSA - 7° TERMO</a:t>
            </a:r>
          </a:p>
          <a:p>
            <a:pPr algn="ctr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GUILHERME ZAMBONI DEL MENICO - 7° TERMO </a:t>
            </a:r>
          </a:p>
          <a:p>
            <a:pPr algn="ctr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LEONARDO BALDO DA ROCHA - 5º TERMO </a:t>
            </a:r>
          </a:p>
          <a:p>
            <a:pPr algn="ctr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VINICIUS FERNANDES ESCOBEDO - 8º TERMO </a:t>
            </a:r>
          </a:p>
        </p:txBody>
      </p:sp>
    </p:spTree>
    <p:extLst>
      <p:ext uri="{BB962C8B-B14F-4D97-AF65-F5344CB8AC3E}">
        <p14:creationId xmlns:p14="http://schemas.microsoft.com/office/powerpoint/2010/main" val="2400628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535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O QUE SÃO RESÍDUOS SÓLIDOS</vt:lpstr>
      <vt:lpstr>PRINCIPAIS RESÍDUOS SÓLIDOS GERADOS PELA CONSTRUÇÃO CIVIL</vt:lpstr>
      <vt:lpstr>CAUSAS DA GERAÇÃO EXCESSIVA DESSES RESÍDUOS</vt:lpstr>
      <vt:lpstr>IMPACTOS AMBIENTAIS ASSOCIADOS A ESSES RESÍDUOS</vt:lpstr>
      <vt:lpstr>COMO A PNRS PODE SER APLICADA PARA MITIGAR ESSES IMPACTOS</vt:lpstr>
      <vt:lpstr>AÇÕES DE LOGÍSTICA REVERSA E REUTILIZAÇÃO PARA O SETOR DA CONSTRUÇÃO CIVIL</vt:lpstr>
      <vt:lpstr>AÇÕES DE LOGÍSTICA REVERSA E REUTILIZAÇÃO PARA O SETOR DA CONSTRUÇÃO CIVIL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Vinicius Fernandes</dc:creator>
  <cp:lastModifiedBy>Vinicius Fernandes</cp:lastModifiedBy>
  <cp:revision>8</cp:revision>
  <dcterms:created xsi:type="dcterms:W3CDTF">2025-05-04T21:01:52Z</dcterms:created>
  <dcterms:modified xsi:type="dcterms:W3CDTF">2025-05-04T23:26:39Z</dcterms:modified>
</cp:coreProperties>
</file>